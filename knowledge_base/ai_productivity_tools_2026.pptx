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1690ee623c4d8a" /><Relationship Type="http://schemas.openxmlformats.org/officeDocument/2006/relationships/extended-properties" Target="/docProps/app.xml" Id="R0e57bb45c2e5402f" /><Relationship Type="http://schemas.openxmlformats.org/officeDocument/2006/relationships/officeDocument" Target="/ppt/presentation.xml" Id="Rd07699e11e60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937fac25cb4155"/>
  </p:sldMasterIdLst>
  <p:notesMasterIdLst>
    <p:notesMasterId xmlns:r="http://schemas.openxmlformats.org/officeDocument/2006/relationships" r:id="Rc8dd5f694a20494e"/>
  </p:notesMasterIdLst>
  <p:sldIdLst>
    <p:sldId xmlns:r="http://schemas.openxmlformats.org/officeDocument/2006/relationships" id="256" r:id="Rd36b80f84ae64f1c"/>
    <p:sldId xmlns:r="http://schemas.openxmlformats.org/officeDocument/2006/relationships" id="257" r:id="R701cd37636044ed8"/>
    <p:sldId xmlns:r="http://schemas.openxmlformats.org/officeDocument/2006/relationships" id="258" r:id="R86f18b3b31cd4f3d"/>
    <p:sldId xmlns:r="http://schemas.openxmlformats.org/officeDocument/2006/relationships" id="259" r:id="Rf2e0bcc98dd243fb"/>
    <p:sldId xmlns:r="http://schemas.openxmlformats.org/officeDocument/2006/relationships" id="260" r:id="Rc61f22ce1635453c"/>
    <p:sldId xmlns:r="http://schemas.openxmlformats.org/officeDocument/2006/relationships" id="261" r:id="R6288ef8f8cb7480d"/>
    <p:sldId xmlns:r="http://schemas.openxmlformats.org/officeDocument/2006/relationships" id="262" r:id="R3d1bd743aa7544b0"/>
    <p:sldId xmlns:r="http://schemas.openxmlformats.org/officeDocument/2006/relationships" id="263" r:id="Rb0f05a2fba384aeb"/>
    <p:sldId xmlns:r="http://schemas.openxmlformats.org/officeDocument/2006/relationships" id="264" r:id="R872e429d953a43b5"/>
    <p:sldId xmlns:r="http://schemas.openxmlformats.org/officeDocument/2006/relationships" id="265" r:id="R6153862b0a674d1f"/>
    <p:sldId xmlns:r="http://schemas.openxmlformats.org/officeDocument/2006/relationships" id="266" r:id="R62e253e526ff48a2"/>
    <p:sldId xmlns:r="http://schemas.openxmlformats.org/officeDocument/2006/relationships" id="267" r:id="R62bb524140344c3d"/>
    <p:sldId xmlns:r="http://schemas.openxmlformats.org/officeDocument/2006/relationships" id="268" r:id="Rdcfe97b53d6f44e7"/>
    <p:sldId xmlns:r="http://schemas.openxmlformats.org/officeDocument/2006/relationships" id="269" r:id="Rf542a9156a164598"/>
    <p:sldId xmlns:r="http://schemas.openxmlformats.org/officeDocument/2006/relationships" id="270" r:id="R70e3131a1a424505"/>
    <p:sldId xmlns:r="http://schemas.openxmlformats.org/officeDocument/2006/relationships" id="271" r:id="R32cbc7ff4ac0418a"/>
    <p:sldId xmlns:r="http://schemas.openxmlformats.org/officeDocument/2006/relationships" id="272" r:id="R2b7de2f68803419c"/>
    <p:sldId xmlns:r="http://schemas.openxmlformats.org/officeDocument/2006/relationships" id="273" r:id="R9dfea91b536146de"/>
    <p:sldId xmlns:r="http://schemas.openxmlformats.org/officeDocument/2006/relationships" id="274" r:id="R3c2f56b7be954f87"/>
    <p:sldId xmlns:r="http://schemas.openxmlformats.org/officeDocument/2006/relationships" id="275" r:id="R87af2910a4f946dd"/>
    <p:sldId xmlns:r="http://schemas.openxmlformats.org/officeDocument/2006/relationships" id="276" r:id="Rdb0b9e2b68de42b1"/>
    <p:sldId xmlns:r="http://schemas.openxmlformats.org/officeDocument/2006/relationships" id="277" r:id="Rb8b3735108d04c17"/>
    <p:sldId xmlns:r="http://schemas.openxmlformats.org/officeDocument/2006/relationships" id="278" r:id="Ra11dcd02ff5843f1"/>
    <p:sldId xmlns:r="http://schemas.openxmlformats.org/officeDocument/2006/relationships" id="279" r:id="R5f106806ab1c4486"/>
    <p:sldId xmlns:r="http://schemas.openxmlformats.org/officeDocument/2006/relationships" id="280" r:id="R3d457bd3ecc94da0"/>
    <p:sldId xmlns:r="http://schemas.openxmlformats.org/officeDocument/2006/relationships" id="281" r:id="R45293df4c7614704"/>
    <p:sldId xmlns:r="http://schemas.openxmlformats.org/officeDocument/2006/relationships" id="282" r:id="R4027d385334c4e0d"/>
    <p:sldId xmlns:r="http://schemas.openxmlformats.org/officeDocument/2006/relationships" id="283" r:id="Rbda8dd8ee4934318"/>
    <p:sldId xmlns:r="http://schemas.openxmlformats.org/officeDocument/2006/relationships" id="284" r:id="R718481a0693d4c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0d5ee442854cf7" /><Relationship Type="http://schemas.openxmlformats.org/officeDocument/2006/relationships/slideMaster" Target="/ppt/slideMasters/slideMaster1.xml" Id="R2e937fac25cb4155" /><Relationship Type="http://schemas.openxmlformats.org/officeDocument/2006/relationships/notesMaster" Target="/ppt/notesMasters/notesMaster1.xml" Id="Rc8dd5f694a20494e" /><Relationship Type="http://schemas.openxmlformats.org/officeDocument/2006/relationships/presProps" Target="/ppt/presProps.xml" Id="R2c02dee648124a97" /><Relationship Type="http://schemas.openxmlformats.org/officeDocument/2006/relationships/viewProps" Target="/ppt/viewProps.xml" Id="R887418835f994cd4" /><Relationship Type="http://schemas.openxmlformats.org/officeDocument/2006/relationships/tableStyles" Target="/ppt/tableStyles.xml" Id="R420ce53a56134510" /><Relationship Type="http://schemas.openxmlformats.org/officeDocument/2006/relationships/slide" Target="/ppt/slides/slide1.xml" Id="Rd36b80f84ae64f1c" /><Relationship Type="http://schemas.openxmlformats.org/officeDocument/2006/relationships/slide" Target="/ppt/slides/slide2.xml" Id="R701cd37636044ed8" /><Relationship Type="http://schemas.openxmlformats.org/officeDocument/2006/relationships/slide" Target="/ppt/slides/slide3.xml" Id="R86f18b3b31cd4f3d" /><Relationship Type="http://schemas.openxmlformats.org/officeDocument/2006/relationships/slide" Target="/ppt/slides/slide4.xml" Id="Rf2e0bcc98dd243fb" /><Relationship Type="http://schemas.openxmlformats.org/officeDocument/2006/relationships/slide" Target="/ppt/slides/slide5.xml" Id="Rc61f22ce1635453c" /><Relationship Type="http://schemas.openxmlformats.org/officeDocument/2006/relationships/slide" Target="/ppt/slides/slide6.xml" Id="R6288ef8f8cb7480d" /><Relationship Type="http://schemas.openxmlformats.org/officeDocument/2006/relationships/slide" Target="/ppt/slides/slide7.xml" Id="R3d1bd743aa7544b0" /><Relationship Type="http://schemas.openxmlformats.org/officeDocument/2006/relationships/slide" Target="/ppt/slides/slide8.xml" Id="Rb0f05a2fba384aeb" /><Relationship Type="http://schemas.openxmlformats.org/officeDocument/2006/relationships/slide" Target="/ppt/slides/slide9.xml" Id="R872e429d953a43b5" /><Relationship Type="http://schemas.openxmlformats.org/officeDocument/2006/relationships/slide" Target="/ppt/slides/slide10.xml" Id="R6153862b0a674d1f" /><Relationship Type="http://schemas.openxmlformats.org/officeDocument/2006/relationships/slide" Target="/ppt/slides/slide11.xml" Id="R62e253e526ff48a2" /><Relationship Type="http://schemas.openxmlformats.org/officeDocument/2006/relationships/slide" Target="/ppt/slides/slide12.xml" Id="R62bb524140344c3d" /><Relationship Type="http://schemas.openxmlformats.org/officeDocument/2006/relationships/slide" Target="/ppt/slides/slide13.xml" Id="Rdcfe97b53d6f44e7" /><Relationship Type="http://schemas.openxmlformats.org/officeDocument/2006/relationships/slide" Target="/ppt/slides/slide14.xml" Id="Rf542a9156a164598" /><Relationship Type="http://schemas.openxmlformats.org/officeDocument/2006/relationships/slide" Target="/ppt/slides/slide15.xml" Id="R70e3131a1a424505" /><Relationship Type="http://schemas.openxmlformats.org/officeDocument/2006/relationships/slide" Target="/ppt/slides/slide16.xml" Id="R32cbc7ff4ac0418a" /><Relationship Type="http://schemas.openxmlformats.org/officeDocument/2006/relationships/slide" Target="/ppt/slides/slide17.xml" Id="R2b7de2f68803419c" /><Relationship Type="http://schemas.openxmlformats.org/officeDocument/2006/relationships/slide" Target="/ppt/slides/slide18.xml" Id="R9dfea91b536146de" /><Relationship Type="http://schemas.openxmlformats.org/officeDocument/2006/relationships/slide" Target="/ppt/slides/slide19.xml" Id="R3c2f56b7be954f87" /><Relationship Type="http://schemas.openxmlformats.org/officeDocument/2006/relationships/slide" Target="/ppt/slides/slide20.xml" Id="R87af2910a4f946dd" /><Relationship Type="http://schemas.openxmlformats.org/officeDocument/2006/relationships/slide" Target="/ppt/slides/slide21.xml" Id="Rdb0b9e2b68de42b1" /><Relationship Type="http://schemas.openxmlformats.org/officeDocument/2006/relationships/slide" Target="/ppt/slides/slide22.xml" Id="Rb8b3735108d04c17" /><Relationship Type="http://schemas.openxmlformats.org/officeDocument/2006/relationships/slide" Target="/ppt/slides/slide23.xml" Id="Ra11dcd02ff5843f1" /><Relationship Type="http://schemas.openxmlformats.org/officeDocument/2006/relationships/slide" Target="/ppt/slides/slide24.xml" Id="R5f106806ab1c4486" /><Relationship Type="http://schemas.openxmlformats.org/officeDocument/2006/relationships/slide" Target="/ppt/slides/slide25.xml" Id="R3d457bd3ecc94da0" /><Relationship Type="http://schemas.openxmlformats.org/officeDocument/2006/relationships/slide" Target="/ppt/slides/slide26.xml" Id="R45293df4c7614704" /><Relationship Type="http://schemas.openxmlformats.org/officeDocument/2006/relationships/slide" Target="/ppt/slides/slide27.xml" Id="R4027d385334c4e0d" /><Relationship Type="http://schemas.openxmlformats.org/officeDocument/2006/relationships/slide" Target="/ppt/slides/slide28.xml" Id="Rbda8dd8ee4934318" /><Relationship Type="http://schemas.openxmlformats.org/officeDocument/2006/relationships/slide" Target="/ppt/slides/slide29.xml" Id="R718481a0693d4c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c70b70eb98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45eb1c3d14515" /><Relationship Type="http://schemas.openxmlformats.org/officeDocument/2006/relationships/notesMaster" Target="/ppt/notesMasters/notesMaster1.xml" Id="Rf697b65ec2f745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0ef9740b446ea" /><Relationship Type="http://schemas.openxmlformats.org/officeDocument/2006/relationships/notesMaster" Target="/ppt/notesMasters/notesMaster1.xml" Id="Rb6b93de48aa048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ccd739a70849fe" /><Relationship Type="http://schemas.openxmlformats.org/officeDocument/2006/relationships/notesMaster" Target="/ppt/notesMasters/notesMaster1.xml" Id="R2924e6a2fa6c42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deaa1f6ca54a92" /><Relationship Type="http://schemas.openxmlformats.org/officeDocument/2006/relationships/notesMaster" Target="/ppt/notesMasters/notesMaster1.xml" Id="R31fdfd12d1c64e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bea518f4294872" /><Relationship Type="http://schemas.openxmlformats.org/officeDocument/2006/relationships/notesMaster" Target="/ppt/notesMasters/notesMaster1.xml" Id="R15f2bd15a15c46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a63937e7614644" /><Relationship Type="http://schemas.openxmlformats.org/officeDocument/2006/relationships/notesMaster" Target="/ppt/notesMasters/notesMaster1.xml" Id="Re6e38ec29fe749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ef50daacb4ebc" /><Relationship Type="http://schemas.openxmlformats.org/officeDocument/2006/relationships/notesMaster" Target="/ppt/notesMasters/notesMaster1.xml" Id="Rbac99558a44249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c21f02a4704293" /><Relationship Type="http://schemas.openxmlformats.org/officeDocument/2006/relationships/notesMaster" Target="/ppt/notesMasters/notesMaster1.xml" Id="R11ed83a29f2046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100269be24910" /><Relationship Type="http://schemas.openxmlformats.org/officeDocument/2006/relationships/notesMaster" Target="/ppt/notesMasters/notesMaster1.xml" Id="R2ca6f9d4e40141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8de52dcf24477b" /><Relationship Type="http://schemas.openxmlformats.org/officeDocument/2006/relationships/notesMaster" Target="/ppt/notesMasters/notesMaster1.xml" Id="R111a06fa747741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b0a67c1dd34e0f" /><Relationship Type="http://schemas.openxmlformats.org/officeDocument/2006/relationships/notesMaster" Target="/ppt/notesMasters/notesMaster1.xml" Id="R40ff9d85a38b4a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bdb362c4464e00" /><Relationship Type="http://schemas.openxmlformats.org/officeDocument/2006/relationships/notesMaster" Target="/ppt/notesMasters/notesMaster1.xml" Id="Rd9f0db9513154f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4aaf1d7fbb4522" /><Relationship Type="http://schemas.openxmlformats.org/officeDocument/2006/relationships/notesMaster" Target="/ppt/notesMasters/notesMaster1.xml" Id="Rec3723401ac642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6b562a791045d8" /><Relationship Type="http://schemas.openxmlformats.org/officeDocument/2006/relationships/notesMaster" Target="/ppt/notesMasters/notesMaster1.xml" Id="R37f832b0b1ef42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d9628d8ea54c73" /><Relationship Type="http://schemas.openxmlformats.org/officeDocument/2006/relationships/notesMaster" Target="/ppt/notesMasters/notesMaster1.xml" Id="Rcb03b2c0996344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fc86146fd34ce7" /><Relationship Type="http://schemas.openxmlformats.org/officeDocument/2006/relationships/notesMaster" Target="/ppt/notesMasters/notesMaster1.xml" Id="R020c35b3a90842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d609fc85bb464d" /><Relationship Type="http://schemas.openxmlformats.org/officeDocument/2006/relationships/notesMaster" Target="/ppt/notesMasters/notesMaster1.xml" Id="Rdd5edbe9817246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51cc197aea403f" /><Relationship Type="http://schemas.openxmlformats.org/officeDocument/2006/relationships/notesMaster" Target="/ppt/notesMasters/notesMaster1.xml" Id="Rc2cd87121bf04b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2d819dba2a4d94" /><Relationship Type="http://schemas.openxmlformats.org/officeDocument/2006/relationships/notesMaster" Target="/ppt/notesMasters/notesMaster1.xml" Id="Rd3940053c53340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6019ec84d94f32" /><Relationship Type="http://schemas.openxmlformats.org/officeDocument/2006/relationships/notesMaster" Target="/ppt/notesMasters/notesMaster1.xml" Id="R358bd26f87c94c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2cc9e0ffa46484b" /><Relationship Type="http://schemas.openxmlformats.org/officeDocument/2006/relationships/notesMaster" Target="/ppt/notesMasters/notesMaster1.xml" Id="Re6956ae865b949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ffb5877e8554032" /><Relationship Type="http://schemas.openxmlformats.org/officeDocument/2006/relationships/notesMaster" Target="/ppt/notesMasters/notesMaster1.xml" Id="R4330b331dc8847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0899119b2448c6" /><Relationship Type="http://schemas.openxmlformats.org/officeDocument/2006/relationships/notesMaster" Target="/ppt/notesMasters/notesMaster1.xml" Id="Ra083926429fb41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69c84e58c1483e" /><Relationship Type="http://schemas.openxmlformats.org/officeDocument/2006/relationships/notesMaster" Target="/ppt/notesMasters/notesMaster1.xml" Id="R78d0841038194c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aec301a0824f33" /><Relationship Type="http://schemas.openxmlformats.org/officeDocument/2006/relationships/notesMaster" Target="/ppt/notesMasters/notesMaster1.xml" Id="R86892b0bb2cb47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c8a3f0729664e10" /><Relationship Type="http://schemas.openxmlformats.org/officeDocument/2006/relationships/notesMaster" Target="/ppt/notesMasters/notesMaster1.xml" Id="Rdc580e1fa0fb4c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702b9e241bb4214" /><Relationship Type="http://schemas.openxmlformats.org/officeDocument/2006/relationships/notesMaster" Target="/ppt/notesMasters/notesMaster1.xml" Id="Rec87ff794a4f48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16cb1e1aa7442f" /><Relationship Type="http://schemas.openxmlformats.org/officeDocument/2006/relationships/notesMaster" Target="/ppt/notesMasters/notesMaster1.xml" Id="R2abe7c78166e4e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db05076c9ea43f9" /><Relationship Type="http://schemas.openxmlformats.org/officeDocument/2006/relationships/notesMaster" Target="/ppt/notesMasters/notesMaster1.xml" Id="Re1f550fc5d4c41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deck as a practical field guide, not a ranking of every AI product on the market.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list favors practical adoption over novelty. Pricing is intentionally de-emphasized because plans change often.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buying lens: assistant plus one workflow system often delivers more value than collecting many apps.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category as the top of the stack: the assistant users reach for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ChatGPT as the broadest general-purpose choice for mixed workloads.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ChatGPT official page: https://openai.com/chatgpt/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Claude's strength in calm, careful reasoning and long-form document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official page and news: https://www.anthropic.com/ and https://www.anthropic.com/news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positioning practical: Gemini is especially compelling when Google Workspace is already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Gemini official page and updates: https://gemini.google.com/ and https://gemini.google.com/updates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Copilot as the best fit for Microsoft-centric teams, especially where change management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official page: https://www.microsoft.com/en-us/microsoft-365-copilot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Differentiate web-first research from source-first research inside company or project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its strength for real-time web research rather than general drafting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Perplexity official page: https://www.perplexity.ai/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NotebookLM as a trust tool for source-bounded work rather than open-ended web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NotebookLM official page: https://notebooklm.google.com/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Notion AI as a workflow multiplier when Notion is already the operating system for the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Notion AI official page: https://www.notion.so/product/ai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category is about operational follow-through, not just generating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shift from transcription to assistant-style meeting recall and follow-up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Otter official page: https://otter.ai/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Fireflies when the user wants meetings connected tightly to systems of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Fireflies.ai official page: https://fireflies.ai/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Motion as execution software for overloaded calendars rather than a generic to-do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Motion official pages: https://www.usemotion.com/ and https://www.usemotion.com/features/ai-calendar.html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Zapier as the glue layer that turns isolated AI outputs into business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Zapier official pages: https://zapier.com/ and https://zapier.com/ai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category focused on output quality and speed, not just novelty image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editability and ease of use as the core business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AI official pages: https://www.canva.com/ai-assistant/ and https://www.canva.com/canva-ai/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Firefly as a workflow choice for creative teams, not only an image generator.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Adobe Firefly official page: https://www.adobe.com/products/firefly.html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Descript to repurposing and distribution, not just editing convenience.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Descript official page: https://www.descript.com/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Gamma as a speed tool for communication output, especially when design resources are 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Gamma official page and product update: https://gamma.app/ and https://gamma.app/insights/introducing-gamma-3-0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coding tools as productivity systems for software delivery, not just autocomplete utilities.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Copilot as the broadest enterprise-friendly coding layer for GitHub-centered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Copilot official page: https://github.com/features/copilot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Cursor as an AI-first development environment rather than just another completion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Cursor official page and update: https://cursor.com/ and https://cursor.com/blog/cursor-3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Claude Code as a strong choice for agentic terminal workflows and codebase-wide task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 Claude official page and news: https://www.anthropic.com/ and https://www.anthropic.com/news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Gemini Code Assist as the Google-native option for developers and cloud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Gemini Code Assist official page and docs: https://cloud.google.com/products/gemini/code-assist and https://docs.cloud.google.com/gemini/docs/codeassist/overview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turn the list into action and reduce tool sprawl.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  <a:p xmlns:a="http://schemas.openxmlformats.org/drawingml/2006/main">
            <a:r>
              <a:t>- OpenAI ChatGPT official page: https://openai.com/chatgpt/</a:t>
            </a:r>
          </a:p>
          <a:p xmlns:a="http://schemas.openxmlformats.org/drawingml/2006/main">
            <a:r>
              <a:t>- Anthropic Claude official page and news: https://www.anthropic.com/ and https://www.anthropic.com/news</a:t>
            </a:r>
          </a:p>
          <a:p xmlns:a="http://schemas.openxmlformats.org/drawingml/2006/main">
            <a:r>
              <a:t>- Microsoft 365 Copilot official page: https://www.microsoft.com/en-us/microsoft-365-copilot</a:t>
            </a:r>
          </a:p>
          <a:p xmlns:a="http://schemas.openxmlformats.org/drawingml/2006/main">
            <a:r>
              <a:t>- GitHub Copilot official page: https://github.com/features/copilot</a:t>
            </a:r>
          </a:p>
          <a:p xmlns:a="http://schemas.openxmlformats.org/drawingml/2006/main">
            <a:r>
              <a:t>- Perplexity official page: https://www.perplexity.ai/</a:t>
            </a:r>
          </a:p>
          <a:p xmlns:a="http://schemas.openxmlformats.org/drawingml/2006/main">
            <a:r>
              <a:t>- Google NotebookLM official page: https://notebooklm.google.com/</a:t>
            </a:r>
          </a:p>
          <a:p xmlns:a="http://schemas.openxmlformats.org/drawingml/2006/main">
            <a:r>
              <a:t>- Motion official pages: https://www.usemotion.com/ and https://www.usemotion.com/features/ai-calendar.html</a:t>
            </a:r>
          </a:p>
          <a:p xmlns:a="http://schemas.openxmlformats.org/drawingml/2006/main">
            <a:r>
              <a:t>- Canva AI official pages: https://www.canva.com/ai-assistant/ and https://www.canva.com/canva-ai/</a:t>
            </a:r>
          </a:p>
          <a:p xmlns:a="http://schemas.openxmlformats.org/drawingml/2006/main">
            <a:r>
              <a:t>- Descript official page: https://www.descript.com/</a:t>
            </a:r>
          </a:p>
          <a:p xmlns:a="http://schemas.openxmlformats.org/drawingml/2006/main">
            <a:r>
              <a:t>- Gamma official page and product update: https://gamma.app/ and https://gamma.app/insights/introducing-gamma-3-0</a:t>
            </a:r>
          </a:p>
          <a:p xmlns:a="http://schemas.openxmlformats.org/drawingml/2006/main">
            <a:r>
              <a:t>- Cursor official page and update: https://cursor.com/ and https://cursor.com/blog/cursor-3</a:t>
            </a:r>
          </a:p>
          <a:p xmlns:a="http://schemas.openxmlformats.org/drawingml/2006/main">
            <a:r>
              <a:t>- Gemini Code Assist official page and docs: https://cloud.google.com/products/gemini/code-assist and https://docs.cloud.google.com/gemini/docs/codeassist/overview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adoption discipline: fewer tools, clearer outcomes, and deliberate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updated June 10, 2026 using current official product pages and official release/update pages where relevant.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e4ba13bd940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9a647507a4314" /><Relationship Type="http://schemas.openxmlformats.org/officeDocument/2006/relationships/slideLayout" Target="/ppt/slideLayouts/slideLayout1.xml" Id="R5e139f4ed0f2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139f4ed0f2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3193d13f24c38" /><Relationship Type="http://schemas.openxmlformats.org/officeDocument/2006/relationships/image" Target="/ppt/media/image.png" Id="R315853ea8bc144d4" /><Relationship Type="http://schemas.openxmlformats.org/officeDocument/2006/relationships/notesSlide" Target="/ppt/notesSlides/notesSlide1.xml" Id="Re12f25861ba4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6821b5e284cb1" /><Relationship Type="http://schemas.openxmlformats.org/officeDocument/2006/relationships/image" Target="/ppt/media/image2.png" Id="Rfe1bfbc5c82d4a89" /><Relationship Type="http://schemas.openxmlformats.org/officeDocument/2006/relationships/notesSlide" Target="/ppt/notesSlides/notesSlide2.xml" Id="R0618a409d949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004be7ece4c38" /><Relationship Type="http://schemas.openxmlformats.org/officeDocument/2006/relationships/image" Target="/ppt/media/image3.png" Id="R4b08ae76b0874aa2" /><Relationship Type="http://schemas.openxmlformats.org/officeDocument/2006/relationships/notesSlide" Target="/ppt/notesSlides/notesSlide3.xml" Id="Rd095f35cc30c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0cbd350a64621" /><Relationship Type="http://schemas.openxmlformats.org/officeDocument/2006/relationships/image" Target="/ppt/media/image4.png" Id="R2b1c3b29a6ef4ca0" /><Relationship Type="http://schemas.openxmlformats.org/officeDocument/2006/relationships/notesSlide" Target="/ppt/notesSlides/notesSlide4.xml" Id="R8db27f1c6d90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28fab9c5a424c" /><Relationship Type="http://schemas.openxmlformats.org/officeDocument/2006/relationships/image" Target="/ppt/media/image5.png" Id="R855c219acaee4b00" /><Relationship Type="http://schemas.openxmlformats.org/officeDocument/2006/relationships/notesSlide" Target="/ppt/notesSlides/notesSlide5.xml" Id="Rd9726e80855045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d023c90114952" /><Relationship Type="http://schemas.openxmlformats.org/officeDocument/2006/relationships/image" Target="/ppt/media/image6.png" Id="R5fa1ec5e597344e2" /><Relationship Type="http://schemas.openxmlformats.org/officeDocument/2006/relationships/notesSlide" Target="/ppt/notesSlides/notesSlide6.xml" Id="R4eeb6516aa6d4d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0b2fb2e194dc0" /><Relationship Type="http://schemas.openxmlformats.org/officeDocument/2006/relationships/image" Target="/ppt/media/image7.png" Id="Rf71b27cf269f4dff" /><Relationship Type="http://schemas.openxmlformats.org/officeDocument/2006/relationships/notesSlide" Target="/ppt/notesSlides/notesSlide7.xml" Id="R48a61810d8f946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87cd5f9f74ff7" /><Relationship Type="http://schemas.openxmlformats.org/officeDocument/2006/relationships/image" Target="/ppt/media/image8.png" Id="Rf1f37538b4d74a6e" /><Relationship Type="http://schemas.openxmlformats.org/officeDocument/2006/relationships/notesSlide" Target="/ppt/notesSlides/notesSlide8.xml" Id="R81165f71ad524f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cf1f536294c36" /><Relationship Type="http://schemas.openxmlformats.org/officeDocument/2006/relationships/image" Target="/ppt/media/image9.png" Id="R9d9c8015f0a447a5" /><Relationship Type="http://schemas.openxmlformats.org/officeDocument/2006/relationships/notesSlide" Target="/ppt/notesSlides/notesSlide9.xml" Id="R26ca740959a945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fed0ace8d4e76" /><Relationship Type="http://schemas.openxmlformats.org/officeDocument/2006/relationships/image" Target="/ppt/media/image10.png" Id="Rc9f3875e6f0443d2" /><Relationship Type="http://schemas.openxmlformats.org/officeDocument/2006/relationships/notesSlide" Target="/ppt/notesSlides/notesSlide10.xml" Id="R62e4a0c3bd8e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26bfb699b4057" /><Relationship Type="http://schemas.openxmlformats.org/officeDocument/2006/relationships/image" Target="/ppt/media/image11.png" Id="Rf2b2463e86424783" /><Relationship Type="http://schemas.openxmlformats.org/officeDocument/2006/relationships/notesSlide" Target="/ppt/notesSlides/notesSlide11.xml" Id="R38f7ccec44bf4d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d69c72dc542be" /><Relationship Type="http://schemas.openxmlformats.org/officeDocument/2006/relationships/image" Target="/ppt/media/image12.png" Id="R84aff9aa2ded46d6" /><Relationship Type="http://schemas.openxmlformats.org/officeDocument/2006/relationships/notesSlide" Target="/ppt/notesSlides/notesSlide12.xml" Id="R385e08a17dbc4e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6552063f4c66" /><Relationship Type="http://schemas.openxmlformats.org/officeDocument/2006/relationships/image" Target="/ppt/media/image13.png" Id="Rfec406532a43498c" /><Relationship Type="http://schemas.openxmlformats.org/officeDocument/2006/relationships/notesSlide" Target="/ppt/notesSlides/notesSlide13.xml" Id="R0e0def30f03941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65828179f4d24" /><Relationship Type="http://schemas.openxmlformats.org/officeDocument/2006/relationships/image" Target="/ppt/media/image14.png" Id="Rbeedb20eca934c87" /><Relationship Type="http://schemas.openxmlformats.org/officeDocument/2006/relationships/notesSlide" Target="/ppt/notesSlides/notesSlide14.xml" Id="R5e05597731e040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b09eab3914e3d" /><Relationship Type="http://schemas.openxmlformats.org/officeDocument/2006/relationships/image" Target="/ppt/media/image15.png" Id="Rdf4ecb546396420b" /><Relationship Type="http://schemas.openxmlformats.org/officeDocument/2006/relationships/notesSlide" Target="/ppt/notesSlides/notesSlide15.xml" Id="R201c1140b21248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15cfe934a41d4" /><Relationship Type="http://schemas.openxmlformats.org/officeDocument/2006/relationships/image" Target="/ppt/media/image16.png" Id="R6029c64a4e9d49af" /><Relationship Type="http://schemas.openxmlformats.org/officeDocument/2006/relationships/notesSlide" Target="/ppt/notesSlides/notesSlide16.xml" Id="R764dbf1e3d2a45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19dbaaacc4e6b" /><Relationship Type="http://schemas.openxmlformats.org/officeDocument/2006/relationships/image" Target="/ppt/media/image17.png" Id="Rf06c012e997146bc" /><Relationship Type="http://schemas.openxmlformats.org/officeDocument/2006/relationships/notesSlide" Target="/ppt/notesSlides/notesSlide17.xml" Id="R2f97e2402a0e41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b54424b1c4a7b" /><Relationship Type="http://schemas.openxmlformats.org/officeDocument/2006/relationships/image" Target="/ppt/media/image18.png" Id="R57906d2489a64e6c" /><Relationship Type="http://schemas.openxmlformats.org/officeDocument/2006/relationships/notesSlide" Target="/ppt/notesSlides/notesSlide18.xml" Id="Rb123be03401445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b7d62fe894b87" /><Relationship Type="http://schemas.openxmlformats.org/officeDocument/2006/relationships/image" Target="/ppt/media/image19.png" Id="R4eb3a0f57edd4779" /><Relationship Type="http://schemas.openxmlformats.org/officeDocument/2006/relationships/notesSlide" Target="/ppt/notesSlides/notesSlide19.xml" Id="R87c249b783b348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c02d89e16413c" /><Relationship Type="http://schemas.openxmlformats.org/officeDocument/2006/relationships/image" Target="/ppt/media/image20.png" Id="R7d1950bbcfa74a8a" /><Relationship Type="http://schemas.openxmlformats.org/officeDocument/2006/relationships/notesSlide" Target="/ppt/notesSlides/notesSlide20.xml" Id="R2815cd3863b946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0c2a32cbf450c" /><Relationship Type="http://schemas.openxmlformats.org/officeDocument/2006/relationships/image" Target="/ppt/media/image21.png" Id="Rb8151b9c2c6f485c" /><Relationship Type="http://schemas.openxmlformats.org/officeDocument/2006/relationships/notesSlide" Target="/ppt/notesSlides/notesSlide21.xml" Id="R21b5523bec8f47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b3374b71b4a42" /><Relationship Type="http://schemas.openxmlformats.org/officeDocument/2006/relationships/image" Target="/ppt/media/image22.png" Id="R42eb01975c98435b" /><Relationship Type="http://schemas.openxmlformats.org/officeDocument/2006/relationships/notesSlide" Target="/ppt/notesSlides/notesSlide22.xml" Id="Rafd28746735f4a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1075af74544e8" /><Relationship Type="http://schemas.openxmlformats.org/officeDocument/2006/relationships/image" Target="/ppt/media/image23.png" Id="R8a94a1965a854ac9" /><Relationship Type="http://schemas.openxmlformats.org/officeDocument/2006/relationships/notesSlide" Target="/ppt/notesSlides/notesSlide23.xml" Id="R4edb3a84ca4a4b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b103a0f584100" /><Relationship Type="http://schemas.openxmlformats.org/officeDocument/2006/relationships/image" Target="/ppt/media/image24.png" Id="R5169f79ac0774844" /><Relationship Type="http://schemas.openxmlformats.org/officeDocument/2006/relationships/notesSlide" Target="/ppt/notesSlides/notesSlide24.xml" Id="Ra6d2b3c4e2cd4a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7d5e3b02d4fa5" /><Relationship Type="http://schemas.openxmlformats.org/officeDocument/2006/relationships/image" Target="/ppt/media/image25.png" Id="Re9e9427ec45b4527" /><Relationship Type="http://schemas.openxmlformats.org/officeDocument/2006/relationships/notesSlide" Target="/ppt/notesSlides/notesSlide25.xml" Id="R2dcb63f52322409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0b6adce44f91" /><Relationship Type="http://schemas.openxmlformats.org/officeDocument/2006/relationships/image" Target="/ppt/media/image26.png" Id="R692a1a76f29d4e74" /><Relationship Type="http://schemas.openxmlformats.org/officeDocument/2006/relationships/notesSlide" Target="/ppt/notesSlides/notesSlide26.xml" Id="Re28f2a60abee4d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a79effff8416b" /><Relationship Type="http://schemas.openxmlformats.org/officeDocument/2006/relationships/image" Target="/ppt/media/image27.png" Id="R90d7dbd98a9942d4" /><Relationship Type="http://schemas.openxmlformats.org/officeDocument/2006/relationships/notesSlide" Target="/ppt/notesSlides/notesSlide27.xml" Id="Rd10c1981399841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2399c09e34299" /><Relationship Type="http://schemas.openxmlformats.org/officeDocument/2006/relationships/image" Target="/ppt/media/image28.png" Id="R68d1003679a046d4" /><Relationship Type="http://schemas.openxmlformats.org/officeDocument/2006/relationships/notesSlide" Target="/ppt/notesSlides/notesSlide28.xml" Id="R566ce28305ed45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f74854a914976" /><Relationship Type="http://schemas.openxmlformats.org/officeDocument/2006/relationships/image" Target="/ppt/media/image29.png" Id="Rebb74e47245d4315" /><Relationship Type="http://schemas.openxmlformats.org/officeDocument/2006/relationships/notesSlide" Target="/ppt/notesSlides/notesSlide29.xml" Id="Rf2aac679f88f40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853ea8bc144d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360AA-B053-4107-A53C-24A1F262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86EA5-E2E2-4DC1-943E-F897CADD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4D672-4239-42F2-AD25-046E976C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AI PRODUCTIVITY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88636-0A32-4067-942B-FD8D449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AI Productivity Tools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D61CC-4D6E-4715-A0F2-45796E10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 practical short list of current tools for writing, research, meetings, automation, creative work, and coding.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D3B77-7913-4BF3-BAB0-B4DBB93B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8862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D0C67-EB85-4614-9D64-41DA838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4"/>
                </a:solidFill>
              </a:defRPr>
            </a:pPr>
            <a:r>
              <a:rPr sz="1575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19 current tools. 5 workflow buckets. 1 simpler buying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9E00F-8B8C-4F17-9FD3-8981D6D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Updated June 10, 2026</a:t>
            </a:r>
          </a:p>
        </p:txBody>
      </p:sp>
    </p:spTree>
    <p:extLst>
      <p:ext uri="{BB962C8B-B14F-4D97-AF65-F5344CB8AC3E}">
        <p14:creationId xmlns:p14="http://schemas.microsoft.com/office/powerpoint/2010/main" val="134746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bfbc5c82d4a8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6EDC1-6A65-4638-989B-D3BBFB1E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A881-9190-458B-9A17-8779C338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A1ED1-5442-43AB-BDD0-5943BA64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02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C0D51-8ED1-4E60-BBE3-37F0F38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4C37-79FF-4144-B78D-F640461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B024-AE71-44D8-85BE-76E7BE6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What This Deck Covers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1AF95-3991-4690-BE6A-8328224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These are the current tools most likely to improve day-to-day knowledge work right now.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1C7BE-20A5-4A73-8A3F-37B2018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C965F-3209-4923-AF58-5CAE953A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94451-19BF-42DA-9B7F-CCB1205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78B45-86D8-41DC-BD2C-B7B97765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Current tools 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8114B-E0CD-439B-B32D-C3231BCC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Across the most common daily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9009A-FFB8-4793-9D01-779997ED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2D16-C6FD-4C1B-8240-4771A9E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73E13-ECCE-47FA-BF4F-C5CD2220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03E58-1D71-4C44-90A4-F206622B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Workflow categories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ED04A-81EE-4124-975C-B92D804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Assistants, research, workflow, creative, and coding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72565-2D53-431C-A832-3C5CA729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26AC5-4500-4B6B-A72E-2A8522AB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CED1B-7C7B-4042-82A6-1E352DE5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A08FB-DF0D-414C-8D85-8903D70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Decision goal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AA118-EC17-4FC0-8763-9F1833BA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Pick a focused stack instead of buying everything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8FAA3-1706-4410-8362-11B16C8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Method: current official product pages reviewed June 10, 2026</a:t>
            </a:r>
          </a:p>
        </p:txBody>
      </p:sp>
    </p:spTree>
    <p:extLst>
      <p:ext uri="{BB962C8B-B14F-4D97-AF65-F5344CB8AC3E}">
        <p14:creationId xmlns:p14="http://schemas.microsoft.com/office/powerpoint/2010/main" val="1284900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8ae76b0874aa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B201D-5D9D-429C-88D5-BBA03B79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E484C-7BB9-4A8F-8454-6FAB6287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READING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403A-E910-4D47-8407-CBF57C4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03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D664B-1A62-40FB-9BF6-847459B1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0E6B3-D820-4ECF-9CE9-13EBADE3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7427B-49F6-4CB5-B895-C8A3C386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How To Use This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2FB19-4DA9-453F-B68F-F01058E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Shortlist tools based on the bottleneck you want to remove first.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58B7E-374E-4D43-8E5D-0A5F4750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B428B-15F5-4B53-9A4F-B5E6A43C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F541F-F177-4032-926C-5E1EED65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D59B4-D6DE-4DE6-9525-0B3643F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7ABB2-379A-42AC-A96A-28BA9247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808A4-6504-43A5-A8F2-2798F2F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769DC-C1BB-49BC-8535-837B322E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Start with one assistant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35BDD-28B3-4EEE-BC9C-7D05CD77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Choose the AI you want open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every day for writing,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planning, and Q&amp;A.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AEF39-27F3-4A16-8519-0B183937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6BDE7-AD64-461D-980D-D48DD5E2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986A7-D882-4679-9E4F-31CD84DA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E9C16-AD60-45F7-B822-21015BE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66FE6-4174-493B-832F-77DBF04C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2518F-E31E-412E-9E34-CC4A121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743F3-5A93-4765-A86C-2257C57F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Add one system tool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7DD6E-C3CF-4229-871A-C5C418E0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Pair it with one research,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meeting, or automation tool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that saves repeat work.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048782-03CF-44F6-A16E-01E7BAD3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8FE79B-89E3-4CCB-8E34-0BE817A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743CB-2FE0-4F31-A281-7AB8B592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37B00-B725-451F-8265-B164514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3AABCA-EF05-4CDB-BB35-9CEC269F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2C720-44CC-4807-952D-E8FA8B08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F02443-5211-44C1-8788-1819F442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Buy for workflow fit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D1191-42AF-4B9A-95F8-691EBCC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best tool is the one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that works where your docs,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meetings, and files already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live.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92DB9-F55F-4AE2-A80F-3B90F52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Use case first, subscription second</a:t>
            </a:r>
          </a:p>
        </p:txBody>
      </p:sp>
    </p:spTree>
    <p:extLst>
      <p:ext uri="{BB962C8B-B14F-4D97-AF65-F5344CB8AC3E}">
        <p14:creationId xmlns:p14="http://schemas.microsoft.com/office/powerpoint/2010/main" val="168521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c3b29a6ef4ca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559EA-475B-4D05-B07C-50445D31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A2BF6-715F-4621-A206-5BA6974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CATEGORY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0AAB0-484D-4902-85AB-565D365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04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EAD97-9205-4253-ACF8-2C7E48E8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76883-E07B-4A3F-9907-CA15DB2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35B55-F3F0-45D8-8FA5-AC808B8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AI Assistants For Everyday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86165-1484-40B9-93C1-D4AEEA94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These tools handle drafting, planning, analysis, and general problem-solving across the workday.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446F7-2099-455F-8DE7-D597ABA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EBAA0-FE85-456C-A7A8-DA7D8054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75D84-A0D3-4A7E-8C31-40B659C0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CCC90-3A43-495B-A18E-4F9A281A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38731-2029-485F-98E2-37AEFFC1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4EFD8-B1E7-4044-804B-FA8A64C5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72209-C063-419C-A421-158EBA7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 breadth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0E729-C115-4460-8A12-67193F8E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ChatGPT, Claude, Gemini,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Copilot cover the largest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share of daily knowledge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D0AB1-4BBF-44D9-87C3-7F9A6FB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8219D-057A-4A83-B600-176BA212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CFD25-8F3B-4931-8AED-C6710812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F572F-DAE9-456F-9C1B-E8B3893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4C334-EDF1-4DB4-9B08-33A24C7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D6280-E0E2-4179-9B6E-AD4C580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5F182-EA7E-47E4-9CEE-A9EAA710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Main difference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79D8E-5EF3-4B1D-BB2A-77918AB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right choice usually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depends on reasoning style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which ecosystem you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already use.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92CF9-0353-4048-868E-D9CB32E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09E69-FAFD-476A-B916-2EA7610F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6DA21-EC4B-4C3C-BB5B-A590B160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79673B-FAD2-47CB-AA09-74CA1C4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FAF4D-435B-439C-A0EB-33E9CCEC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9A25F-56D6-4B59-AB63-FED3447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ECF0C-7400-4EC6-BE6F-16FAF5EC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Buying 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C43D2-361A-4D39-A395-0CA1FA1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Pick the assistant that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reduces app switching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helps your team produce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better first drafts.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6F99B5-F448-40B0-BE6A-D15DBE2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Assistant category overview</a:t>
            </a:r>
          </a:p>
        </p:txBody>
      </p:sp>
    </p:spTree>
    <p:extLst>
      <p:ext uri="{BB962C8B-B14F-4D97-AF65-F5344CB8AC3E}">
        <p14:creationId xmlns:p14="http://schemas.microsoft.com/office/powerpoint/2010/main" val="1514650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c219acaee4b0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B7944-6543-4DA3-90BB-D723920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A6EE3-FFBB-4BD0-9E08-7C980BB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B4F00-1DB6-4FD6-AED8-BD44D8C0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05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8287B-799C-44BF-A69D-C9EF3EDE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DC03E-695A-4DFE-A595-5BF27AE7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9E500-3B10-4A7E-B4BA-AAEB9B84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BA97D-3B4C-473F-9D73-7942985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OpenAI's everyday AI assistant for ideas, writing, problem-solving, and learning.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07FA8-B094-4DDF-9248-6E2561B5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BE04-726D-4191-8C5A-FAC1998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8D575-CBF8-4943-B742-50F26F2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F9631-CCCB-4DDD-9782-1258A4B8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E7C8A-0944-4C28-8643-6F06FB7C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E592E-E9E4-45CD-A14A-941852E6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41490-8401-4864-914E-8574A36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61B08-EC3E-4DBC-881A-0BA15A8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Handles drafting,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brainstorming, Q&amp;A,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file-based work in one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familiar chat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B7CEA-B067-4A68-B2FB-3188A066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20AE0-3DEF-496D-8017-B9F4DDCF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43DA1-5439-4DF1-9526-98D33022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52BF3-D05C-4D0B-BECE-60DE06B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04D07-8E94-469A-86CB-91B9844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340CC-2AEA-4C96-958D-B7FB71B6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B33F8-9DAC-432B-BF15-A390F87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67856-CB62-4FAA-A940-36BE4AB3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General knowledge work, fast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first drafts, and teams that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want one versatile daily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assistant.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865F21-AD6E-45B9-95B8-ACBAE0F5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021D5-C614-46B0-BDE8-850D7F9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E85F9-C51D-4513-8504-E70D636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628D38-5322-4B5D-97EC-0379B4E4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4ABD1-F3DE-4693-87BC-41D5107B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15320-6F10-4DA5-B169-3B70F555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3C1B6-C76D-4531-89D8-53A82CD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77187-B52F-40C4-A2A8-240FCA1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Still the broadest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all-around option when you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need one tool for many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different tasks.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1CE4C3-E178-448D-848C-E5CC9F3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openai.com/chatgpt</a:t>
            </a:r>
          </a:p>
        </p:txBody>
      </p:sp>
    </p:spTree>
    <p:extLst>
      <p:ext uri="{BB962C8B-B14F-4D97-AF65-F5344CB8AC3E}">
        <p14:creationId xmlns:p14="http://schemas.microsoft.com/office/powerpoint/2010/main" val="947602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1ec5e597344e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ED7ED-9293-4636-A12A-C97A77EB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DB62D-1483-43ED-A898-B009EDC2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8CA09-420E-4B8A-A1C7-852F7A3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06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43B0-853C-4DD5-BAB4-F922CF6A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EEF92-570B-408C-82A8-B5A95D36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07500-40AC-4F7B-9666-BE2FF959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Claude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F43CA-0018-4931-A98F-92F1DEFE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Anthropic's AI assistant for nuanced reasoning, long documents, and professional writing.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11073-42F2-4972-A2B2-46879CF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35216-D46F-41DF-AEEB-1417915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C44CF-6027-42D4-A494-D9010DB4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42235-40D0-4311-8DE9-E80B1F89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BEF7D-5E82-4575-A932-90B147B4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BD087-EE5B-4F10-8EC6-CE547A5F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25589-24F6-411B-BCE4-C9A87E62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7348E-0DCD-47E5-8139-F332648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Supports careful analysis,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long-context reading,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synthesis, and polished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writing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F5F54-F494-4897-A6E9-70963C8E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EF271-B901-4A50-9D06-496BB95B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E62DD-52D3-4F71-A77B-F78D9390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8683A-8736-441C-9558-5EDDF9A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63057-5A0C-4D78-9B2A-E3B79F66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90B16-D82E-4444-A7D6-528A37B8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67ABE-5824-458F-828A-B1AE51C5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BA47E-BEEA-4E52-A2B0-28F2F84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Strategy docs,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document-heavy workflows,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users who value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thoughtful responses.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5538A-2C72-48A9-8616-F3EE5827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CA20F-BFD4-4436-9B3C-AD4BA8A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A2FA3-3D91-4C8D-ADDF-539BACB8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7D8415-0176-4D91-94C0-C74E376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45880-DA45-4C27-ABCF-294F829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B231FD-6FFE-4BC3-BE8D-1A507EA8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F4D203-624C-4DD9-B8F1-83BBD43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6C74F3-6F77-4C9A-9EB6-53527CE9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Anthropic continues 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position Claude strongly for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professional work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long-running tasks.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43D9E3-DEA8-4F0D-A96E-C88F382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anthropic.com/claude</a:t>
            </a:r>
          </a:p>
        </p:txBody>
      </p:sp>
    </p:spTree>
    <p:extLst>
      <p:ext uri="{BB962C8B-B14F-4D97-AF65-F5344CB8AC3E}">
        <p14:creationId xmlns:p14="http://schemas.microsoft.com/office/powerpoint/2010/main" val="96392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27cf269f4df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64AF9-0D8E-42C1-9C1E-AEDBD5F2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E0A46-8442-49F1-9B25-B96B009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006B-BD5A-49AD-89B3-4331B40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07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3F099-A0B1-40CA-98DF-D54A339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EE2E1-21C1-4FA7-9812-FB20D8A7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443EA-E5B8-400A-8DD3-28B9F99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Google 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FB8F4-16C9-4027-9A92-B34E4F1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Google's AI assistant for writing, planning, brainstorming, and Google ecosystem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C4BC6-1BF4-452A-AE37-0C636137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B04BC-A107-4344-9ABC-AE0C3BF0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42EA5-0F4F-4510-80F7-89365E8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9ED84-9007-4735-B3FD-340EA131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3BF7D-D29A-4522-9DAA-6F0D620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DCC56-3FFC-4468-BBA2-44E34E20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3712E-9CF5-481E-BAAF-62F220D7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F7DFC-4F79-4887-9E47-B112738A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Combines conversational help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with Google-native workflows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across search and workspace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contexts.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E4D6B-6622-4773-B51C-18687D4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DF6E4-5492-444C-A736-DD7E43F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B4DAC-5D4C-4DCB-AEE3-2C9662C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EAFD9-CC03-4EE4-8D52-F0B7448B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95501-46DB-43B5-8C11-FF07368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F11AB-4C89-45FE-AA04-DEE2133F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995CF-53C9-4482-83B9-B5852F5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2EF86-F5CC-429D-96F0-3C2E3B04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Teams already living in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Gmail, Docs, Drive,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other Google services.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918F0-6E18-4CA8-A402-A420707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648F5-15C1-4A13-BA2C-262C2EA0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907A9-9D84-4F41-9359-7ACBB6D3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E8BF3-1824-4E53-AF41-C6412BF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ACB26-571F-4A7F-9883-7E9ED469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3D938-593E-4C1B-9732-07CD23AA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52B9E6-1C65-4DED-B3C4-AC8F9FB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46E51-0EFE-4512-A627-BE462E1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Gemini keeps expanding into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Google's wider productivity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surface, which matters for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daily adoption.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F35D15-18CB-44E7-9DE2-C094C8C5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gemini.google.com</a:t>
            </a:r>
          </a:p>
        </p:txBody>
      </p:sp>
    </p:spTree>
    <p:extLst>
      <p:ext uri="{BB962C8B-B14F-4D97-AF65-F5344CB8AC3E}">
        <p14:creationId xmlns:p14="http://schemas.microsoft.com/office/powerpoint/2010/main" val="1047111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37538b4d74a6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38D5A-D187-489F-936F-7A944E14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46E01-B8A0-4EC3-A0BC-E5C8C95C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DA7A-7D1B-490A-B697-D91CA6A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08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8BA02-F19F-4655-8EF3-19249026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074FC-0CEA-40C6-8C70-7100F2F6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51008-79CA-4784-855F-5069054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Microsoft 365 Copilot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0FFFA-6470-4A0C-9E0E-B65612C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Microsoft's work-focused AI across Word, Excel, PowerPoint, Outlook, and Teams.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FC522-28AF-4A7F-8F8D-C556E983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492D9-58EC-4C58-AB6E-CFACB29A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78F4A-8AA3-4802-915F-9950561D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6770C-4F33-4557-B00B-24540A84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C24B4-218C-4923-B146-6FEC815A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03833-C27E-4484-B868-D909D4C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71CF3-1ADB-49E4-8306-CF913A90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4064A-BC3C-42D0-A35B-E1803906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Helps users chat, search,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create, summarize,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collaborate inside Microsoft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365.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FA612-2501-4C2D-B5DA-F43C8BC7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25C56-EA24-4375-A451-AB6C15A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A8596-D510-4588-B800-9E6AF7C3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0EBB1-3881-4EBA-8CF7-E16F77E6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1B76C-776A-47A2-A9B9-7D719145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74373-8502-4F58-BCDB-0FB71AD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0F7B2-0F5A-4DA2-A47D-B8540D15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F59D1-A9C1-496C-8271-55E6C17B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Organizations already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committed to Microsoft apps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enterprise governance.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A42BC-AFCC-4FE2-8F0B-B995415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A068B-004B-46CD-B31F-54F35441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3C7F8-A079-4217-BD0B-BCC7086E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6B2C3-7DF2-4A44-AB83-5447209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0888D-4DB9-4D89-8195-663C9731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C9EC6-C7FF-4FA1-A1A8-87C084BB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F84CBA-4257-43D4-A52D-F6C645C9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2EDA09-8951-4786-9B46-6F531CFF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 turns familiar Office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workflows into AI workflows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without forcing a new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operating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8DF85-2327-4FF5-80C9-B1BBDFF3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microsoft.com/microsoft-365-copilot</a:t>
            </a:r>
          </a:p>
        </p:txBody>
      </p:sp>
    </p:spTree>
    <p:extLst>
      <p:ext uri="{BB962C8B-B14F-4D97-AF65-F5344CB8AC3E}">
        <p14:creationId xmlns:p14="http://schemas.microsoft.com/office/powerpoint/2010/main" val="1440179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c8015f0a447a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36EF3-D322-4C4A-BF37-D0E23A12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DB6F5-5C5D-4950-9B2A-7F1E550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CATEGORY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CD418-639B-455D-A6FB-FA5750ED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09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FA45E-8827-48EC-B114-7D3DCB5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B0646-ABAD-4343-BC20-64B546A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D3813-C9B6-48DB-ACFA-F98979E7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Research And Knowledge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B3BBB-4903-418A-B21C-D0680D5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These tools help teams gather information, ground outputs in sources, and work from trusted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A0D92-BE79-4F83-BF2E-549EA53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A2DB0-3459-43B9-BF28-C8333488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B6451-C217-479B-BF9D-83E52A29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903A3-707F-4016-843B-F156930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91625-1246-4318-BD25-41BEB94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80815-2C82-42B7-8464-5A1DBF34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121CA-43D4-4945-88B1-8437AFD3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Fast web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7A4FD-FF0F-461D-883D-A950A99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Perplexity is strong when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job starts with current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information and cited web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answers.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97CCB-0F1E-48E2-AEF9-AB25DF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EE2C0-7F33-48F0-B9ED-5A97C86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057EF-9A51-44EF-9E59-E3FAACC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BBA25-69F2-48D9-BDFB-B1E77149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C13D6-8CD0-41A0-8CBB-87A0B166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44CE7-5BC6-445A-BF07-AFCA4CC4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F628A-722B-47EB-8618-5B1126A9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Source-grounded synthesis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092A8-4A98-41D2-B5B4-77EA8014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NotebookLM and Notion AI are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stronger when your team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already has the documents.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9FCA9-75BC-4FBA-8713-10906315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D2C7FD-C52F-4C76-B835-7C01B97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F9A7B-6E82-417A-8200-7E43399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9F0A9-15FC-47F5-A1C9-ED7770A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EC6CB-0898-41D5-9AD9-1FE0DC6E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5147A-732B-4A7A-900B-ECD9652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3106FE-61D3-4232-8581-0DD5DD7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Buying 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F8A4B-EEC7-413D-9379-5F988F89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Choose based on whether your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truth lives on the open web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or inside your workspace.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E02186-1989-42FC-A535-2A6340FD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Research category overview</a:t>
            </a:r>
          </a:p>
        </p:txBody>
      </p:sp>
    </p:spTree>
    <p:extLst>
      <p:ext uri="{BB962C8B-B14F-4D97-AF65-F5344CB8AC3E}">
        <p14:creationId xmlns:p14="http://schemas.microsoft.com/office/powerpoint/2010/main" val="285357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3875e6f0443d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F559-BD45-4150-A93D-35BDB275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74CAA-288E-4C11-9DD5-CE217B26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4A394-856A-491C-B55A-2B4B8B0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10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F426D-E103-4412-99A1-34CA5F7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85113-5455-49A2-8C64-51A9017D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152BF-5EC2-461C-AE04-3E1991C2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Perplexity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71117-A70B-4E56-AAAB-2D4B7EE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 answer engine focused on accurate, trusted, real-time answers and cited research.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B1A26-6B18-4A6A-8BCE-A24B2C5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A62E7-AF70-46FE-8863-989DA291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E1347-2358-4BD9-BAC3-63B60C74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6B38D-5C10-417D-AA52-9A469F13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B7F3A-4641-4EFC-96B5-534086EF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8F54F-338B-4EA7-994A-D01EC15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52569-4FA4-4E92-A63B-82F77D0E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66160-6007-43D7-8986-A393E04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Finds current information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quickly and presents answers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with source grounding built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FCB27-1C6B-4FEE-8486-B9C3F93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9D3D7-A087-40DE-8C14-540B826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9F6E0-8007-441D-A2E8-7B775372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1E74C-3D67-46B0-8266-EADEB31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4425A-FB29-476F-ADEF-A6E4DA3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3236F-B3B2-462E-BA67-760C7A25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DFFDF-B43B-47EB-92B6-32073E57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4EFC1-23DC-4FE8-A36F-7683D4F1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Market scans, competitive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research, current-events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queries, and fast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fact-finding.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D3B4D-2FE5-46E0-9C4F-E9A1FDA2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24DB6-DBD4-4C59-BC1F-ACF78C19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22E31-A168-4704-8E63-EA07597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7F4B5-8EF7-48B3-B89B-65EED484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82BFE-8884-4494-B32C-CCA3122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1F136-3814-4A19-81E7-3E5A84F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DEA67-5B2C-4FB1-8976-4138979A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EC994-2D81-4770-B53F-043CA1C9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 remains one of the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clearest choices when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recency and citations matter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most.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FC8B44-DFF7-4629-B13A-43E05B74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perplexity.ai</a:t>
            </a:r>
          </a:p>
        </p:txBody>
      </p:sp>
    </p:spTree>
    <p:extLst>
      <p:ext uri="{BB962C8B-B14F-4D97-AF65-F5344CB8AC3E}">
        <p14:creationId xmlns:p14="http://schemas.microsoft.com/office/powerpoint/2010/main" val="571084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2463e8642478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5D1DE-9E2D-4D39-A584-30A7DE1A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7508A-A4B1-4CDD-94B0-5F7A271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06FCF-9E61-4864-919B-DCC27359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11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471E4-0ED0-4FF4-AB69-8B186CE0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CB4BE-10C7-4E37-90C1-156D735B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42E6C-6128-4C36-90F7-91844D6A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NotebookLM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82FDB-C594-4576-A5C0-0929F143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Google's source-grounded research assistant for understanding and synthesizing your materials.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C5960-CFB7-4AAD-A1BE-B64A2B84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00E52-75EF-4840-B8F3-5E27F6A5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68E99-77AD-41C6-9A86-595CA542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7A7B0-6762-46B5-BFAE-22F9376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20823-E8D6-4475-97C3-0374229D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296CF-5135-43A8-825B-14EC4737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26855-9797-4F9F-8543-DFE147F5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87E6-8A0C-4BB0-976E-683767A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Helps users summarize,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question, and reorganize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insights from the documents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they provide.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9A4A3-9BA5-43E0-9F83-8674B73D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BF594-8DB1-4560-9ED8-D240DF7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3823B-66C8-4DBC-AA4E-E25A6FC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4578B-B191-4163-8F05-060E80F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756E0-94DA-4C44-9E72-D0F133D6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A7A21-A584-492E-9A76-CBCE2B64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A7109-C7B8-4664-9B42-EF66CEED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E998C-D657-4D1C-B1EB-E9474B2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Study packets, interview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notes, research sets,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project briefings,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internal reading packs.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C9376-B757-4175-B113-27376CE9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04238-1B62-4E2D-8E94-B0D71E7B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41081-4814-4A6E-9456-B387B4F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39D531-22D4-46DA-B7BD-77AA433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7C8AB-E9EF-425C-BDCD-558BF7B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16210-D82E-41DD-9929-58B4B25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1AB6A8-F700-4162-9955-53FCAB4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579DF-FB09-49A1-8F5F-A600880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 is especially useful when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team wants outputs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rooted in a known source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set.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D516B-1CB2-4198-997F-FCE0568B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notebooklm.google.com</a:t>
            </a:r>
          </a:p>
        </p:txBody>
      </p:sp>
    </p:spTree>
    <p:extLst>
      <p:ext uri="{BB962C8B-B14F-4D97-AF65-F5344CB8AC3E}">
        <p14:creationId xmlns:p14="http://schemas.microsoft.com/office/powerpoint/2010/main" val="137730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ff9aa2ded46d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561CD-000E-4D2E-A9DF-A06507F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9A9F5-5E70-4930-8AA6-4F9090B5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D95D4-37DE-4861-A9E1-1DABB4B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12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1A8E9-B1EC-49D0-A4C2-0A72A743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BDF83-835C-42BA-BF08-2B8DEAB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956A1-9639-4ED4-AE96-A85EAFDF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Notion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9D276-408B-4C63-8B1B-2239AB4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Notion's connected AI workspace for docs, search, meeting notes, and automating busywork.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CD976-39BE-4AA5-94A5-D864F0FF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8B224-403D-4CD6-9B4C-075B29D1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E53CC-2DF5-4506-94BD-D62C5001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BD651-1726-4AC9-980E-C520CD1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67797-43B2-4D56-AB45-CB9F642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CBC7C-0326-4A21-AEAE-01E0E56B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14CBB-6ACC-4B35-A777-642A3A1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D0DF9-732D-4818-9295-7BEC1188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Adds AI generation, search,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capture, and action-taking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directly inside the Notion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3564B-9ED7-40EE-B1BF-44083CF2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58C84-67DB-4C05-B964-AD4D0CF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CD903-7B27-48D5-998D-84D4CA9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5FDD5-A8F2-4874-8B70-E64B2AC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C213B-3A06-4759-A3F8-F06ADE7E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77962-23C4-4F2C-AF78-4A943AE0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0A15D-A1CA-4E09-946B-C0AC883F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AA594-5383-4946-B055-DC4B499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Teams already using Notion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for docs, projects,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knowledge bases,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operating rhythms.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D7176-FCB4-441F-9A1B-26C6571F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5C056-3BAE-4516-9F61-E867647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2655B-9B00-4EAB-9F14-75A36B08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109D59-2B3D-4468-95BD-8D4D414A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2CF8D-6DD7-4695-9040-147CCAD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03BAB2-57A1-4303-A8E4-BFFCF961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D0292-68B0-45E6-99EF-A702ED3F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6B709-4EB9-4D16-898E-CC6EDE11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Its value compounds when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notes, tasks,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institutional knowledge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already live together.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1C5CD-F299-48BB-ABC9-5649644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notion.so/product/ai</a:t>
            </a:r>
          </a:p>
        </p:txBody>
      </p:sp>
    </p:spTree>
    <p:extLst>
      <p:ext uri="{BB962C8B-B14F-4D97-AF65-F5344CB8AC3E}">
        <p14:creationId xmlns:p14="http://schemas.microsoft.com/office/powerpoint/2010/main" val="457383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406532a43498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76DA1-033F-4D37-82D7-3F7A4646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A7B8B-7F99-47E6-8959-647F22B3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CATEGORY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2475E-93DD-4CB1-ACD1-30D9F79E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13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E95E9-BB3C-4945-8C44-5F2DF71B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20F33-D996-44FB-A3C2-36916821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DC39B-D9F9-4393-8C07-3F3DFADB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Meetings, Planning, And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B3BA3-DFC2-47F4-93F0-AC46B29C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This layer captures conversations, protects calendars, and turns repeat work into reliable systems.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94459-9403-479C-8C9C-7F4AA303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E5225-FD69-4DFB-841A-F46DD24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8224E-8674-46BA-8692-6A3540C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1182A-573C-4566-BEA3-3C193759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83157-F5BC-46D8-8806-D5061E6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C1E5C-6DDA-4E1F-8029-E515C76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EE31C-EF17-4018-87A4-72F1850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Meetings to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07ED3-E2DB-4F19-950F-9CA0B164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Otter and Fireflies reduce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note-taking load and make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conversations searchable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later.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475E8-55BB-4284-A1E3-516B7A46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8AE78-14A7-4E76-8ACE-514332D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1B920-F264-4739-BFF7-D8C52DA9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A5DCD-4D24-4075-A419-A0684207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642E8-3205-4AAA-95A1-129D046E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C32E1-8266-49BE-A724-0B98CC7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7DD2A-F217-47AA-8A7A-772BECEA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Time to 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FE3D0-6D88-4085-8585-E0800CC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Motion keeps priorities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calendars aligned when plans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change during the week.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2972E-63F4-4BE5-9371-5AFA2476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1F8B6-968A-4F0A-A940-47B68D8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30A54-1CF4-4D79-B84E-FD5F87BF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F625E-0489-47CB-882E-B4944D35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2F338-8ED3-4DD7-8A3E-66692A5B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299235-6753-469A-B636-07612DE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05304D-EDAA-44DC-B325-71A17D0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Automation backbone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0DA46-1E3D-421E-A19E-BC73AC91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Zapier connects the rest of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the stack so insights can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trigger actions.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35D9C6-DBFD-4BCC-9A7E-ED0DCD0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Workflow category overview</a:t>
            </a:r>
          </a:p>
        </p:txBody>
      </p:sp>
    </p:spTree>
    <p:extLst>
      <p:ext uri="{BB962C8B-B14F-4D97-AF65-F5344CB8AC3E}">
        <p14:creationId xmlns:p14="http://schemas.microsoft.com/office/powerpoint/2010/main" val="5405346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db20eca934c8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63519-3B3B-41B2-8C78-42EC486F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8BD67-725F-4D0C-9F79-7FBF484E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1BEAF-5288-46BA-A10E-47B0837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14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B041-4ADC-425C-BCEC-E75AE43B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5A529-AE7C-4161-B1B0-935C10D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19AC4-9B7B-4A8D-BF8B-490A1522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Otter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371D7-4A3E-4DFA-BD4F-975A7A84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 meeting assistant for recording, transcribing, summarizing, and creating follow-ups.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8295B-6A4B-49FC-8BF3-649EBBDC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762FF-9182-48D4-85E9-584BB287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2CC35-073A-49A4-87F7-80A2B97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2CAE5-A8CE-4966-B984-45702ECF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7634C-0498-46FF-AC9A-2BA1074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6C7BC-243C-4D5E-8FE2-B76624AC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D783E-EF55-4F27-BA1B-3BAE212B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2EBDC-05A6-42AE-81CE-EDC340E5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Captures conversations,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extracts takeaways,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helps turn meetings into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usable outputs.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1212C-8A40-4D54-9386-B35A623C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48AA1-8AAA-47E3-BEB1-747B4404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EFB1A-D15F-4092-BDC1-79859A0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B0CFF-B967-4E8A-9636-B056531F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ED4D1-BD6E-478E-8546-0A074665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40BBF-11E2-4763-A0E8-AA6D7FE2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85A2-06D3-47B0-9BBE-BC77D13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74EED-CFB0-4CE3-A1DE-19DA833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Leaders, recruiters, sales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teams, and anyone who lives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 calls all week.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57484-FD21-463F-8F45-3C54A0F3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D21D0-C04B-4C51-9E83-0B9B754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A13C4-D223-40DE-B209-98CA7DE4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3688E2-19B9-4F34-BA91-BFFA65ED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51EDD-786A-4004-8A61-0132856E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79E2E-A8EE-46A6-8068-1288ACF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B6909-D918-47B9-8A64-EB45D1E5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2FCA8-F602-4BE3-A783-4FB7D6FD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Otter increasingly acts like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 meeting memory layer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rather than a simple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transcript tool.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C239B3-003E-46B9-B885-DF17EE0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otter.ai</a:t>
            </a:r>
          </a:p>
        </p:txBody>
      </p:sp>
    </p:spTree>
    <p:extLst>
      <p:ext uri="{BB962C8B-B14F-4D97-AF65-F5344CB8AC3E}">
        <p14:creationId xmlns:p14="http://schemas.microsoft.com/office/powerpoint/2010/main" val="1392779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ecb546396420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8F05B-A633-4FFE-BB99-5B65D6B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44C1A-EE59-463D-82A9-5A48FF3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D857D-B488-4BF8-857E-ED610E1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15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87FF3-FBA6-43C8-B5F2-4A4272CD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2B70B-18BD-4474-833F-AC96DEC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F6609-791A-408A-85D0-1C49BD8D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Fireflies.ai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1E2DA-5B75-4F8A-9EB4-18D9C8AE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 assistant for meetings, tasks, and workflow automation across communication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4A86F-B4AB-4E6E-A14F-5E89B418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61152-327E-4B8A-A299-E346D740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48FE2-1223-4D50-B533-396F1AD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EC096-7975-47CF-9C47-AD542985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89440-0C68-49C3-BC73-1388570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1FBC8-F271-4BF9-AD7F-DF0F702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E5DD0-AF61-498A-B1B2-A68C7D34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8D7D4-E305-4A75-B522-9F7770EE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Takes notes, manages tasks,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syncs meeting outputs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into other systems.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4F471-3326-41CA-BAD0-32ECF754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9AF5A-3E83-492D-9CF4-DEBDA73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9FADE-017A-4FC8-BB12-A0C2A672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D36DF-7B97-4ABA-BB4F-369FB45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68812-904F-477A-8641-B9E0035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C3E37-1EC7-48C6-9EDB-6E1EC54E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80469-70DA-4988-BB3F-9BBF596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D932B-3175-4079-B8DE-3120472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Revenue, support,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operations teams that want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meeting data to flow into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CRM and task tools.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B98B7-13EA-40BA-8231-A222DADA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B9D3B-F6F4-4005-8E32-6813CDF8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29B2C-CB47-4C4F-BE25-9AFC2DC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07D7C-760F-4D1B-8130-366B2248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7C38A-13C9-4660-ADD4-B0833D3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2CCF1-B0A5-4FF4-9CCF-120527C3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2A259-5A82-4EA1-996A-AE312D7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60588-8D5B-406D-8ACF-61C2CF5F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 leans harder into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downstream automation than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many meeting-note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competitors.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121AB6-4E6F-4A4B-9F4E-49EA1BB9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fireflies.ai</a:t>
            </a:r>
          </a:p>
        </p:txBody>
      </p:sp>
    </p:spTree>
    <p:extLst>
      <p:ext uri="{BB962C8B-B14F-4D97-AF65-F5344CB8AC3E}">
        <p14:creationId xmlns:p14="http://schemas.microsoft.com/office/powerpoint/2010/main" val="12847658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9c64a4e9d49a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501BD-F241-4368-A657-A5887D4B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08B8F-ADCD-46BE-8046-EBBD84CC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37158-2273-445E-807E-18E13C0E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16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EB399-CB8C-4B6F-B676-EBD0849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CD046-2F81-4114-9028-5B0177F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82E9C-0EE7-4D47-A8D1-F94C389A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E7824-C511-48F1-9F6E-4C8CCFC5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 planner that schedules tasks, meetings, and priorities into a realistic calendar.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D546C-763E-407C-B3B3-28BAE7A9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D8532-5453-4A0A-AE57-0A2C7D7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EE949-ABE5-48B9-BCC6-0B5A85A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4F075-4D51-4194-A9E3-07964CB2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48BDE-84BB-42EC-B959-2590BE7B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255F6-0122-46E4-8240-D8BEB41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111A3-0511-42DF-B022-5DD0A31F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AB4BB-49DF-47FF-9632-6DF14151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Auto-builds and continuously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re-plans your schedule as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deadlines and interruptions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01262-F270-4F47-993C-89C6145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F9218-05E7-4CD2-A9A1-637EEDC4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70BAB-DDA8-4C72-BB42-004754FD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E55B6-F7C8-4486-9B96-63EA19BF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CB75D-639F-4CB9-ACF9-2740E50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40E44-A89B-46A5-AD44-F76732E3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E08E4-1585-40AB-9C62-A1A3A16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F48E0-CDA2-4539-9DA1-5DA7DD9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Managers, operators,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individual contributors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juggling too many moving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priorities.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F98CB-72DD-45E0-A539-FB0BFD6F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5FD0DF-1FE3-443B-9735-58426CD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04B91D-2D7B-4824-A368-631F5563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A5B9C-1EBD-4B9D-A446-6534D049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AF436-B735-46B0-A46C-FF870119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05B21-06EB-4B30-9329-042A6473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B29AF-7636-4AD9-9599-11DEB133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A89F5D-29EE-4637-A731-394552C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Its main promise is not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better notes or chat, but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better execution against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8FA8D-E699-4904-B70F-EBD4F41C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usemotion.com</a:t>
            </a:r>
          </a:p>
        </p:txBody>
      </p:sp>
    </p:spTree>
    <p:extLst>
      <p:ext uri="{BB962C8B-B14F-4D97-AF65-F5344CB8AC3E}">
        <p14:creationId xmlns:p14="http://schemas.microsoft.com/office/powerpoint/2010/main" val="956213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c012e997146b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3ED1B-7CC0-488C-8D1F-DDCD34BB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D296C-F020-44D0-B47B-0C117325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689CD-B134-4EF5-9EDD-76C3644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17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F1601-31C3-47BB-948B-B3CB70A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75048-65E1-4DF4-B9CA-DEDF455A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F349E-8E17-4048-8868-33BD357D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Zapier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597F4-9F47-41A2-A691-9B9D8103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 no-code automation platform for AI workflows, agents, and app-to-app orchestration.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607CF-227E-42F4-A7D1-D55F029F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209CB-FA03-41D1-8D67-3D137F20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8D467-BDEF-49BF-A8CA-F6F9202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DD0FC-79B6-4080-8402-E4A8D178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A3131-06C9-4183-B729-136B4038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E6758-B397-443B-8DC5-502D25E3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072D7-B812-40E2-8B42-2CE2CA9D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FE68C-7DF2-4BF2-A02A-365EE98F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Connects AI tools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everyday apps so routine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 can trigger, move,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complete itself.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B0DC2-73C8-428A-9B22-0A52E7F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14CAF-286B-430A-8066-1A4C0D1D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0F7F0-F1B8-4D19-8573-E6BB66F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35D6E-99BE-4FAF-A679-B11E727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CBFD2-1317-4D84-AA42-9503E09E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48B73-F757-4613-8ACC-2B1BEE2A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DB5D3-31A8-46FF-9D7C-C31CDED9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66C9E-EFD5-462C-BC3C-673525B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Teams that need workflows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across forms, inboxes, CRMs,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spreadsheets, and support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systems.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71236-1D4B-48D5-9226-AF2A426A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023AE-3606-4237-93F2-EF6A0B75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C8AA9-5473-4895-8F8F-733C067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CB44E-8AEA-4325-9D9E-0595A85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A79CC-A4C8-4CEF-BF41-B407D78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DB837-CD0F-410D-B436-05171EA2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DE415-2637-404A-9735-D53FEBB7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A39FD-63BD-41B9-8D36-635F460B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Zapier remains one of the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most accessible ways 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operationalize AI across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many apps.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F8317E-3892-4AF1-A4EC-E1C28718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zapier.com</a:t>
            </a:r>
          </a:p>
        </p:txBody>
      </p:sp>
    </p:spTree>
    <p:extLst>
      <p:ext uri="{BB962C8B-B14F-4D97-AF65-F5344CB8AC3E}">
        <p14:creationId xmlns:p14="http://schemas.microsoft.com/office/powerpoint/2010/main" val="20511803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06d2489a64e6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D721A-8B8E-436C-9745-ACE98C2C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FE287-5E78-4523-B2E3-897A7F7F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CATEGORY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ECA20-17D7-4701-8258-43382495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18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C3C34-6359-4DC0-8EC9-3F77330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2A7B1-36AC-405B-AF3F-9509A2A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85E68-DAE5-449D-9A9B-49B2AC05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Creative And Communication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BEC11-BE98-4892-8C53-4C8A1B7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These tools help teams ship visuals, media, presentations, and polished communication faster.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9B89A-750C-45F6-B14A-477FF5C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41F4C-AFB5-42F6-A38B-6FCD38A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51195-C6B4-4FBB-A766-1E91F3BE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26020-9AFC-47AA-8275-E11AB4B6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7A702-EFBC-442C-A151-B478A6C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4CE08-C9C6-4C11-8B3E-ED75917A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3BB48-992E-4085-8682-D8BFA0A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Editable design speed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63354-8410-4F84-B1BB-32A2F8A0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Canva AI and Gamma are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useful when people need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polished outputs without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expert design help.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BAA77-68F2-40B4-ABD1-F92425AB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588EE-51B8-4129-BC88-98A14C64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17B02-DCD2-4CF2-9EF5-9600783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B16C5-B821-40F2-B285-1EBFD83D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AB030-B8AD-41DF-BC1D-061A49B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DF89E-0D26-4497-86BC-CE4C9A5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6D4211-6F3D-44F0-A75E-D80BAA57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Creative 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0EE6A-6069-4ED9-ACFF-8708F372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Adobe Firefly matters most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when AI work has to fit into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established creative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5A5B2-F89F-492D-A525-240567A2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F742D-9575-418B-A888-C12E454F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1DAB8-E3AF-4C4A-A2CB-72E823E7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2ED87-E2A9-44C5-891B-4A50836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AED257-3EF3-4D76-8955-9C45274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A180E3-C1FE-4AA3-9AAF-EAB4263B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650BA-756B-4D20-90DC-A928E564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Media repurposing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FB6DE-F16C-4EB1-A502-43910BAA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Descript shines when audio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video need to become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publishable assets quickly.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910A8B-B654-46CF-9020-5CE87C1A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Creative category overview</a:t>
            </a:r>
          </a:p>
        </p:txBody>
      </p:sp>
    </p:spTree>
    <p:extLst>
      <p:ext uri="{BB962C8B-B14F-4D97-AF65-F5344CB8AC3E}">
        <p14:creationId xmlns:p14="http://schemas.microsoft.com/office/powerpoint/2010/main" val="8912508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3a0f57edd477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5E806-046F-4B74-8252-D23DF697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E3F9F-56D9-4BFF-9C1D-6EB2051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CREATIVE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F53A8-3C86-48C5-B3F3-61330CE0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19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67654-4FDA-4242-8894-DCA52FA3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FA5C1-6353-4755-839A-746F34A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304C2-C196-4A0F-B713-9AEC6AFB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Canva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4F812-65B1-449F-A602-5ED0658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Canva's AI assistant for brainstorming, designing, and turning ideas into editable assets.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E5E3E-8338-4CC5-BD71-C844B6A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D218E-1D9F-403C-A60C-F9AEB079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7B071-B3DF-495C-B3B4-69D2338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9BEB7-5B52-4B38-86FC-D777662A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C10BA-58DD-4495-9B50-55A2CD3B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F7A3A-613C-4959-B0F8-5ECC6F2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E27A5-5161-4DBC-AE0A-72313CA1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BDFFC-21C0-431F-8BDF-D504F14C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Helps generate and refine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presentations, social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graphics, layouts,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marketing content.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925D9-5FFF-4F86-AD2F-7C7C48DA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C9169-0987-4A4E-B171-C88130D2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97657-95DD-4497-9178-52CB90D4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48DCE-A963-4E88-A74E-EB054CB3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B0850-E4B9-4A6B-A3FF-43C89D0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DA1A1-8DCC-4A47-AAFD-B617CFF2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BDE6A-008B-4A91-8399-4B193751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3E3D9-BD25-49C1-BBB9-BDC8C55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Non-designers who still need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fast, polished visuals that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remain easy to edit.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0E672-274B-4A14-B093-E7101FBD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DC972-45DF-400E-990C-308D00FC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72D4DD-E875-4167-9F3D-B926542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C5546-79BC-4810-B98C-817DF1B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8A13EC-6F82-42EA-BDD8-A0C8303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3FC47-A8B7-47E4-BA5F-231E3718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AE3B0B-CEC5-4585-9F3E-EC908D1E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D6E650-E34F-43FD-8D84-6E2BFF70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Canva keeps making AI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outputs land inside 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approachable editing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workflow.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6BC6AC-6272-4727-9AEB-091AEACC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canva.com/ai-assistant</a:t>
            </a:r>
          </a:p>
        </p:txBody>
      </p:sp>
    </p:spTree>
    <p:extLst>
      <p:ext uri="{BB962C8B-B14F-4D97-AF65-F5344CB8AC3E}">
        <p14:creationId xmlns:p14="http://schemas.microsoft.com/office/powerpoint/2010/main" val="11258445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950bbcfa74a8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66D3B-6F57-4FCE-8CDD-FF788624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97A6C-CE49-412A-B917-B9504CCF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CREATIVE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5E6FC-4AEB-470C-9AC9-18AA8BFE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20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F0FB5-BD0E-47FB-9780-CFE265D0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71140-B875-4B0C-B056-C113A02F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C83D-6199-4D46-8B17-AE558A1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Adobe Firefly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33D64-3252-429B-A8B7-C5064894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Adobe's generative AI environment for creating and editing images, video, audio, and designs.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705CC-5A79-4F3A-8EB0-D0C8D9E9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7866E-70B0-4A0F-805F-4F48831A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03B51-ED12-4302-81B0-163D334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9142E-F903-46B2-8446-050C0FD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0D0A8-D969-4C1B-9284-0E4F49C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D5071-9F27-4A1F-B3ED-7E6315A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B3BD8-5DD3-4C34-9DBD-EB3425E8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0C1A4-E4B5-4D85-9F7F-F9902E5E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Supports asset generation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editing inside a broader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creative production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ecosystem.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52435-5DF0-48EB-852F-B72CCC17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B8748-7A36-4B60-A731-D0D34DDA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7C642-7367-4525-AF06-E2E25D51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1166C-1799-4C5A-9F10-7FBB0334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92CAD-C233-4275-B310-7F1FC04A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979D3-9C20-45C9-AEFB-FD5CCED8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7B804-1C11-4863-A6D3-CC5C838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F4C7B-06B5-4659-9761-5AC81A1B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Creative teams that need AI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outputs inside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brand-sensitive professional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design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D2DFD-5EFF-436B-9806-AAA8BF18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7D401-D7D0-4435-A50E-EBBDC54A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E96EE-64C5-4FEA-908B-023F13E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DCFF1A-BC19-435D-85C2-87F4FEB3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F955CE-4C7B-452F-8635-684E81DB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BC8D5-6669-4907-8201-3869003B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0F2B9-39A6-42E1-8B67-CEC5FB9D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1419A1-8F1F-4A0E-8716-B7BC7925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It fits best when teams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already depend on Adobe's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broader tooling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governance.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60A6D9-5A5A-4202-9D5C-FB03573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adobe.com/products/firefly.html</a:t>
            </a:r>
          </a:p>
        </p:txBody>
      </p:sp>
    </p:spTree>
    <p:extLst>
      <p:ext uri="{BB962C8B-B14F-4D97-AF65-F5344CB8AC3E}">
        <p14:creationId xmlns:p14="http://schemas.microsoft.com/office/powerpoint/2010/main" val="21017057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51b9c2c6f485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01E75-46E7-455C-9127-7D31122E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56C7C-1E5F-4E9E-92FF-2F692443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CREATIVE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C633-84DA-4284-B3F9-CBB31E9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21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62480-F305-4126-B827-518FB39C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3CBBB-1108-47ED-9A57-28E7C5A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7E3DF-01AB-40E7-99DA-71E56CF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Descript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625A-F354-4CAA-8E81-E8EB34E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 media editor that makes video and audio editing feel more like editing a document.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153E0-2000-4795-AE87-A0DAF3CB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A7868-73C3-4BF6-9367-2AEAF917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8876C-26A6-4D35-9677-0418784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0E59C-9E93-49F5-8173-6D271BC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81978-C27A-4C2E-9D25-E0B1A903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E0C91-EB79-4D02-8261-C8990D1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08A9D-3C8D-4991-8AF2-E17EA71B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2EA12-6E18-44F5-A934-402A4765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Combines recording,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transcription, editing,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captions, and publishing in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one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14920-B9DC-4C3E-B1E7-711312A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EB71B-9943-42A7-9DDA-3B03A98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9E7C5-C5B5-4AB8-954E-64DF4FDD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69C4F-45DB-493E-A1FF-A930702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52B1C-2495-426F-A669-B992A5D8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BB722-629F-4154-B441-F764BD63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5A294-11D7-424C-8B00-8933E2C4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61AA2-0F99-4FFF-AA49-AFD53E5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Podcasts, webinars, internal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explainers, social clips,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fast-turn video teams.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05033-0138-48B5-8D16-3B7F66AB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AE064-DBAC-4EC3-864F-724F5E57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772CF-F5F8-4BF9-81FA-7ED20D04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6DB1F1-0622-4BE2-B331-7A1D8C3E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A2B67-B09D-49ED-A27D-A0DB3AE7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76F8C-FDD6-4288-8D18-404FA41D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0EDC6-F3AE-436A-86D5-BA9926DC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CC132-DBCE-4525-88E4-2EA8CBD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Descript reduces the skill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barrier for teams that need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more content from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recordings.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A602CB-5C01-46FA-8559-1FCCC580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descript.com</a:t>
            </a:r>
          </a:p>
        </p:txBody>
      </p:sp>
    </p:spTree>
    <p:extLst>
      <p:ext uri="{BB962C8B-B14F-4D97-AF65-F5344CB8AC3E}">
        <p14:creationId xmlns:p14="http://schemas.microsoft.com/office/powerpoint/2010/main" val="15920503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b01975c98435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B6D75-1C8E-41A8-B25E-EC87B160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1B283-EBBA-4C24-894E-BB353EA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CREATIVE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C47A7-ECE1-4C6D-9457-7A90B736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22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AA904-0560-4889-849F-9153C69E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D4618-E0E5-44DF-808C-EF5A40C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70AB6-4964-4F7E-A94D-765F8DD2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Gamma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34CF6-4739-446E-9244-E0BDA7E5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AI-powered design tool for presentations, documents, websites, and visual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99FA9-EE35-4426-B6BB-F2B65DA0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90271-5B96-4601-8E15-05B34167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C8FBD-EE3E-4E9A-921F-4C273AE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EA23F-55CE-4700-8BB0-FC1928D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B540C-F523-46C2-A59A-4DC6AEE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BF764-51AF-49FC-83B7-CFF670D0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3C5DC-0A46-4FF0-A122-3FABE4F5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F1A40-3324-4A45-90CF-26B280B5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Turns rough ideas into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polished decks, docs,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shareable visual narratives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quickly.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22F00-8C92-4E56-A01E-E8811B7D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3A332-2765-433C-BED9-26D35D8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EAA00-5524-487A-A418-4DF9A62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7706B-D74B-4569-B191-498BE8C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DCCB5-2A88-4E8C-932C-F7E50CBF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CE5E7-6AC4-42E0-93F2-D81A0066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01099-A653-4DD7-B251-1822A14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973F8-9E57-4F90-809C-936DB118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Founders, sales teams,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marketers, and educators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working from blank-page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pressure.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F44C39-AF86-4C90-8329-F88D8D3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DA998C-56EA-4D12-907A-F29EBB19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3B0816-2FA6-4D44-9C3E-63727440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D08C8-21E6-40AB-817E-B14C4AF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AF59B9-FA26-4AD8-99EF-CC6591CF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6C92C-89E9-4FBA-85C1-259D365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735C0-E6E5-4B03-878E-39E5AD5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6CF201-5DC6-4E46-8D94-0976BE12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Gamma continues to push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beyond slides into a broader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communication platform.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C66BA-1981-4F25-BB14-DE23669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gamma.app</a:t>
            </a:r>
          </a:p>
        </p:txBody>
      </p:sp>
    </p:spTree>
    <p:extLst>
      <p:ext uri="{BB962C8B-B14F-4D97-AF65-F5344CB8AC3E}">
        <p14:creationId xmlns:p14="http://schemas.microsoft.com/office/powerpoint/2010/main" val="8030282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4a1965a854ac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0B4C0-2C2E-446D-946A-8F79C941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678C-6464-408B-AA6F-E57B3944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CATEGORY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68F67-AAD4-4891-8E37-A0075A6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23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B49CA-8B27-4FD2-BB13-604FB693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CCC25-78AD-4718-87EA-49300CE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84D9-E0E7-44EC-9B1A-D0ACF628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Coding Tools For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FE2B9-82B5-4857-A2FF-1413F92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This layer helps developers write, review, refactor, and ship code faster inside real engineering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21528-FCDA-4F1F-A6DD-DEB96564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CFCFC-1756-4507-9733-99BD9FDB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2090B-7F63-406E-8B4D-AB4655B9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7C663-45F3-47C9-84C4-E5FD91A7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813BA-E7B6-4EF2-9844-A17CD068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9266A-12CF-4F6A-A8B8-6623FD13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F1407-A5D0-4274-A3F1-E89D40F1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IDE-native help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04DF3-6A27-45B7-8373-583EC0E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GitHub Copilot and Gemini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Code Assist fit teams that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want AI directly inside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familiar editors.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F5759-A4F5-4772-86AE-9B9434F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9B259-F283-41F0-9384-D2BC2830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3B138-E4E6-4115-9C23-1FA1D5B0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83D68-C0BB-429E-B0FC-2BAFA2B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49C7E-81A6-4E38-8F41-919E3FEA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2D234-E789-4218-84AB-A7245496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6A002-A987-402F-BCDE-E2547BE7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Agentic building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ED73F-31AB-4C0B-9F24-5D362EE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Cursor and Claude Code are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stronger when users want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multi-file execution, edits,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task 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544D9-16FF-4F5D-9F7B-4289793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49F31-2B87-4D69-BFF0-50C6D1AB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A85DC9-C1BC-4E27-B100-28381EB2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689FF-7218-4BF5-A67A-5481E5C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82200-A82A-492A-A702-DE687FF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92257-4158-459B-9CBF-B5975685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70511-3119-4B73-A44C-6FDEEEE5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Buying 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2DDF71-75F1-499E-976C-DF3BF195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Choose based on where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developers already work: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GitHub, VS Code, terminal,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or Google Cloud.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41EA3A-E353-4E8E-A009-1B9EA15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Coding category overview</a:t>
            </a:r>
          </a:p>
        </p:txBody>
      </p:sp>
    </p:spTree>
    <p:extLst>
      <p:ext uri="{BB962C8B-B14F-4D97-AF65-F5344CB8AC3E}">
        <p14:creationId xmlns:p14="http://schemas.microsoft.com/office/powerpoint/2010/main" val="7941997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9f79ac077484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221C4-643B-4E6D-BA25-F4CA40F3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3D09B-C535-4D5A-BBD2-BBA27B04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8389D-EC81-45F4-A6D5-F336EFCF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24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F595F-4E20-4EBA-8C57-898085D4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74B9-CA90-46A5-AC01-6BBBAB3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8CCAB-FBAF-4202-9E4D-CF94FA18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GitHub Copilot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ACEE8-023A-494B-A131-BA1FB5EA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GitHub's AI pair programmer for code, chat, edits, review, and agent workflows across development.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5A1B3-7E6B-413C-A633-F9FA8CC8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7FD01-F453-4ED2-9E42-80D9F5BF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FC444-BB7B-4ABA-AA3F-13F70C1E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90668-CE1D-4CAD-88B5-CFF21B0C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0D61B-DD85-4670-84AB-F19BF49F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17C84-B326-485A-B9C6-78AAF76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437DB-03ED-4C2A-9A11-F30A199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F0284-5AF2-462E-93ED-1B4AEE8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Helps developers code,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explain, edit, validate,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collaborate from the IDE to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GitHub workflows.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8D016-871A-477E-8693-72C3641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218FA-F8BB-4843-BE15-1F74F1ED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A3078-7E89-41BB-90A7-E36E1558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88FAC-DBE0-4AF6-B39C-4FE045B3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8C020-DB1B-4986-AD69-657A0123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D8B84-45CB-4C05-8553-4821DD4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C43EC-43BC-42A1-AF23-D11FC88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078D9-C2D1-47AD-8E8D-B7F3C536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Engineering teams already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standardized on GitHub, pull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requests, and mainstream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IDEs.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C186F-9032-44B1-B597-4CD451BA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55B0A-0C7E-4A5B-A6CD-3C63A03C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EDC75-5110-498E-9804-182F424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6BC954-CA77-4971-8387-B7D8DF8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43DDF-2791-4847-9A49-0BDF685C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D772A-C006-43EE-830C-F1598070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58BB0-C2B3-4B9F-ADF5-67598621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A8054-854E-4A32-8966-3DF29E15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Copilot now spans editor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help, terminal work, review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flow, and background agents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in one ecosystem.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D59A3-4DF0-4BA8-99AB-E0F34CD0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github.com/features/copilot</a:t>
            </a:r>
          </a:p>
        </p:txBody>
      </p:sp>
    </p:spTree>
    <p:extLst>
      <p:ext uri="{BB962C8B-B14F-4D97-AF65-F5344CB8AC3E}">
        <p14:creationId xmlns:p14="http://schemas.microsoft.com/office/powerpoint/2010/main" val="6498883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9427ec45b452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6044D-2609-4B86-A3B1-2DC2429D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CB7A1-3489-495C-B6C2-1E3298D2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81E72-EB36-4146-82B4-0C898770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25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A270F-9516-4FF5-A1F3-338E3EAE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1B77-F007-49E3-88EB-0FA84CB1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2C2CF-5BB9-434A-819D-743B7D6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Cursor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2FF01-D08D-483F-ACC9-E6A4E73E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 AI coding agent and editor built for ambitious software projects and agent-driven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7AD51-4EFB-4440-9AC6-0B2C8F03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2A249-DA7A-4F63-917C-D2C0C9E5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D3762-04FE-401E-B231-B46F78A4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C839F-3013-4518-9E73-FEF69A5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150D1-13D6-4937-A4AE-905AB126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55394-B4B5-421E-B6BD-E080ADA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10918-BF25-42F7-B3E2-712BB8FD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ECAB2-4A85-4B92-A8F5-27DC3EAB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Combines code editing with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agentic task execution,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context gathering,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multi-step software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9A7CC-F54C-4C4E-99B9-AF8D54C0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7BC99-A6DA-47A1-9D26-6334DF4A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CB3D1-1034-4472-B470-312C30B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BD42B-53E3-4E87-A86C-40991738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DD9B2-89B3-4B36-B12B-A5C3005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4BE31-2CF4-49AE-81F4-8EF74E3B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4FD68-DF38-4F1A-AFD6-3CE2EE29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CDCDB-1CE6-470B-B91E-379B01F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Developers who want 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AI-first editor rather than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 traditional editor plus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add-ons.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CBF95-073D-47AC-AFB0-7F7F06F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104BC-97AC-4041-A137-17DD731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1B377-4A9B-43FC-82D1-A186D15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B2262-CDFD-4893-99AC-C2DC3C76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91B10-158E-4E93-92B5-0A158339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341B20-5295-4F47-84AB-5B97FE44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E573D-FDF4-4D81-B923-9CEF1ADF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B95EC4-0001-452A-A812-AF0AF1B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Cursor is increasingly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positioned as a unified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workspace for building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software with agents.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01B0F-7C7F-4933-B560-27E20B56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cursor.com</a:t>
            </a:r>
          </a:p>
        </p:txBody>
      </p:sp>
    </p:spTree>
    <p:extLst>
      <p:ext uri="{BB962C8B-B14F-4D97-AF65-F5344CB8AC3E}">
        <p14:creationId xmlns:p14="http://schemas.microsoft.com/office/powerpoint/2010/main" val="478441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a1a76f29d4e7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F1D1A-F459-473D-A8C0-CBBAFB5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49DD1-8F16-4FE6-8A4E-079A72B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496ED-0DCD-4CA7-9A07-031C9178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26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DA33B-6661-4E6A-A28E-2AB753E5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CD85-D8D1-45DC-861B-CDAEC17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1E678-812B-4715-BF57-D188289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Claude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B5ECA-3647-49F9-BD5F-F0353E3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Anthropic's agentic coding system for reading codebases, making changes, running tests, and delivering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EAAF1-F155-4991-97A2-A67699C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ACBBE-93CE-4BDA-887A-6DEB7AC8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33BB5-22D1-4DA1-930C-3AF3BD5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3FF04-1D09-4D88-9655-CB425FC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212CC-C552-42AD-A4C3-69AA3960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F7498-B1E3-49D4-8E1B-6AE5C477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3BF83-4FC7-49FD-AB8A-DA5453C0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8DA4D-A8C3-499F-8DC9-7C1FAD63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Works across files and tools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to help build features, fix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bugs, and automate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development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749A2-0584-4DDF-9767-A48B4C8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A85C7-75D5-4D3C-B8AA-997FD5A1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797D8-2215-494E-96F3-48DF2A3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8105A-3F72-47A8-8191-B5AFDAA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5B819-B7FE-4E2A-A4EC-E8ADC72F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19DAD-6F67-471D-AF95-A68F00D6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08066-2D4D-4F9A-82FF-AC96923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39CAC-95B7-4491-99B7-82F1C8DC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Terminal-oriented developers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and teams exploring agentic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software workflows beyond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autocomplete.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CB325-50D3-44DF-9AC7-F73C8EEF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FCB9D-7B10-49AD-92EF-3ECF9C0F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9E45B-8A5A-4708-9B84-9090D96D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ED406-039E-4EB6-85C8-40101528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08CAD-8F53-4796-8838-34FA1F59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6A3B1B-1B8C-4142-9B1A-B3037B2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E14C3-73FE-4061-913E-2867F657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9CEEA-801A-4B46-B0F2-E3DFD33F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Anthropic positions Claude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Code as a coding system that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can execute meaningful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software tasks end to end.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020AE0-84EB-4C39-819F-0035FD25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anthropic.com/product/claude-code</a:t>
            </a:r>
          </a:p>
        </p:txBody>
      </p:sp>
    </p:spTree>
    <p:extLst>
      <p:ext uri="{BB962C8B-B14F-4D97-AF65-F5344CB8AC3E}">
        <p14:creationId xmlns:p14="http://schemas.microsoft.com/office/powerpoint/2010/main" val="10957257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7dbd98a9942d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1244E-DB6A-4B9A-B036-F833CD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2BEA6-F714-45BC-A32F-6CD8E61C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1FB3A-9BBC-4D9A-99D2-8FF6203A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27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E452C-47E2-4594-A8C4-1E43629E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13CFD-53FD-49BF-880D-98B101A4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BF185-3E4A-4401-8711-DD80988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Gemini Code Assist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21757-C48A-4DBB-83AA-B9817F1C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Google's AI coding assistant for code completion, generation, chat, and review across IDEs and Google Cloud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1525E-F554-4661-8626-9131BCA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1F330-50A6-43E9-903E-F041752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31C0F-D9F0-4190-81E2-5B4753B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49AC8-8E6B-412B-B1F5-E83AC3B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4B3E9-4330-4FD6-90DA-50DF9267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D24C7-C77C-4659-ACF2-9253307D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00BAE-1F25-4D85-AEA3-DE776AD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What it does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BA17F-7FE8-4844-9C21-FEBBE87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Provides code completion,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code generation, chat,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review support in popular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development environments.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BD44E-E220-4416-BDEB-1FCBFF19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EA841-CE0C-4F16-A8C4-A953B066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81146-A18D-4E6F-ACAE-6F2BBB9D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B4113-A7C4-458E-9BCE-8282ADFA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F24E0-66AF-4646-91F1-49DC8DAC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72287-96A4-4367-8C3C-B30DA118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DB7A5-3118-47B6-9E54-D589353E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Best for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C6203-789A-4A03-BC12-EA0167DC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Developers building 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Google Cloud or teams that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want AI support tied closely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to Google tooling.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2AE1A-8C0E-48AB-B62D-2D39516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CF30C-A99C-4DC2-8792-40C51B8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1482B-AAA1-4B0F-AA43-F7FB3D6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31CFA6-F27B-4144-B899-B8C98DA9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C4561-411D-4706-A0DE-8D2BE762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DEB5D-B897-44E1-A3BD-A5885A0A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22361-9B90-44B1-98A1-D2EE671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stands out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BFF898-84D0-4F32-B7D9-913860C2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Google continues to extend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Gemini Code Assist from the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IDE into review and cloud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development workflows.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86F6BB-6D7F-457C-A01B-14C720EA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Official site: cloud.google.com/products/gemini/code-assist</a:t>
            </a:r>
          </a:p>
        </p:txBody>
      </p:sp>
    </p:spTree>
    <p:extLst>
      <p:ext uri="{BB962C8B-B14F-4D97-AF65-F5344CB8AC3E}">
        <p14:creationId xmlns:p14="http://schemas.microsoft.com/office/powerpoint/2010/main" val="17653814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1003679a046d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AB1F-F9C8-497B-ACE5-540BF0E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E6820-56CA-41B2-A65E-2F23C86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STACKS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02C81-C398-422B-9C72-3380D28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28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93F55-0EE0-443C-B563-24DEE53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D1492-F72E-4393-B376-20BE6D9D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ADFC9-934D-4ECA-A272-9198097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Recommended Starter Stacks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EE796-AF97-42EC-B7A3-0B08664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Most teams get value fastest by pairing one general assistant with one or two workflow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8A622-CF7A-4AD8-A3FF-66B7DDE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BB8E0-8759-4A12-83E1-558AB52B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E278-300F-4B99-98C0-C97B9185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FA6D8-6916-4A0A-A106-7F381A6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CC1BE-46BE-4A45-8331-CA6C877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FC7C7-C2D8-48F0-8480-174E93BA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239E5-AFC3-4808-8A29-1612B4C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Developers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F70CF-1DC6-421F-B4D2-CEDEC3A8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GitHub Copilot or Cursor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plus Claude Code or Gemini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Code Assist, depending 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terminal, IDE, and cloud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workflow needs.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9C61F-CC54-406D-82A6-B1E3859C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914A2-4437-4E40-94D1-8A9570C1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D71B9-8B28-41E9-9180-CE0B0187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5006F-55E8-4965-BC08-F3CA2B8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42A3C-E166-4BE8-882F-FDBA5AC0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82BD5-A3E3-4C48-8798-9414DC70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A982C-3D0A-4B47-84DA-FD567E11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Researchers and strategists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FFCD1-116B-471B-AFED-6D334BBD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ChatGPT or Claude plus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Perplexity and NotebookLM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for faster source-grounded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thinking.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06F27-A5CA-456D-B5C6-15FD3B5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A97B7-D728-41C8-AB69-303DADA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F2366-95A6-4561-8A23-2FABBDD0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7B7CB-8AA0-4EB4-9CD4-8844CB17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54B47-0F0E-4642-8C77-4CEC696D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870661-03CA-4117-BD25-F7140290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0F45E3-53CB-4953-BE75-C9FC703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Operators and creators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7E7B0E-AC1E-4438-BE84-FB9D97B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Microsoft 365 Copilot 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ChatGPT plus Motion, Canva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AI, and Descript for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execution and communication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speed.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BE1073-2DFB-492F-BCB1-7A1A499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Start with a role-based stack, then expand only where friction remains</a:t>
            </a:r>
          </a:p>
        </p:txBody>
      </p:sp>
    </p:spTree>
    <p:extLst>
      <p:ext uri="{BB962C8B-B14F-4D97-AF65-F5344CB8AC3E}">
        <p14:creationId xmlns:p14="http://schemas.microsoft.com/office/powerpoint/2010/main" val="4966590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74e47245d431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620CA-A4D9-465A-9084-94349C02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78C7D-BC02-46D5-859B-29545633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06080-89C6-4139-98E2-38B11AB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29 /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C77BF-CA83-49D0-A2E0-A7E6298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22966-E80B-4AEB-8B4E-79847227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4B37D-DF41-4961-9D07-FC5FFB3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What To Do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16DFF-F12F-4D22-80FC-FD04291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Pick the bottleneck, pilot one stack for two weeks, and measure time saved or quality gained.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F7368-4646-49EE-ABB3-A8A0F76C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F1989-FCA3-4028-8DCB-18A05004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5853B-0C00-48E5-ADBC-8CEB2513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05031-90F8-4844-A639-F92A5B3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B2403-6BE9-4B04-9275-00C1133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814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EC691-B8EF-42A5-9642-1924885F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AFB30-1FAA-4CD4-B5F8-E9CB7400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Pilot one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6CB83-4D84-4366-995F-A5F12415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Choose drafting, research,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meetings, or creative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production and test one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focused stack there.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30680-15B4-40B1-8984-3939CA94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E8515-1705-4C7F-9C05-7AD2330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FA762-78FA-4E58-BA50-5D50E841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67A92-4F4A-4284-B045-37F8FCAF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B77D2-898D-491E-BF95-5C0BE60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0671D-2669-4156-B6B9-320747A6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195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6BD20-FD90-46FD-8DD2-DDE20CA3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Track simple outcomes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E340E-2F37-44BA-84AE-C840F51D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Measure speed, response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quality, meeting follow-up,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or content output before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adding more tools.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5964DF-1FEF-496F-AD5A-5262AB04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33845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D323C-45CC-4A73-9AB0-C8D4085D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528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7FC14-3923-48F3-8954-59B687CD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581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554FC-3DF5-4080-8BED-82D2364C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242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5406F-DBD9-4BBF-BE14-B22AFF21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100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A82E2-CAD4-4905-AB5C-DCC978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957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27314-5CEA-4FE4-A0F7-3BC8253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623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Source 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DD1FB-77CF-4F1A-9C9F-024E5B9F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71950"/>
            <a:ext cx="292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This deck was updated June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10, 2026 from official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product pages and current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  <a:latin typeface="Lato"/>
                <a:ea typeface="Lato"/>
                <a:cs typeface="Lato"/>
              </a:rPr>
              <a:t>official updates.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11D849-FBD5-4765-B269-C823E532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Keep the stack simple before you scale it</a:t>
            </a:r>
          </a:p>
        </p:txBody>
      </p:sp>
    </p:spTree>
    <p:extLst>
      <p:ext uri="{BB962C8B-B14F-4D97-AF65-F5344CB8AC3E}">
        <p14:creationId xmlns:p14="http://schemas.microsoft.com/office/powerpoint/2010/main" val="632571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2026-06-10T23:08:56.9450000Z</dcterms:created>
  <dcterms:modified xsi:type="dcterms:W3CDTF">2026-06-10T23:08:56.9450000Z</dcterms:modified>
</coreProperties>
</file>